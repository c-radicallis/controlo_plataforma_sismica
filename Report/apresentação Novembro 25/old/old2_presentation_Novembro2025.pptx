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9" r:id="rId2"/>
    <p:sldId id="309" r:id="rId3"/>
    <p:sldId id="315" r:id="rId4"/>
    <p:sldId id="317" r:id="rId5"/>
    <p:sldId id="318" r:id="rId6"/>
    <p:sldId id="301" r:id="rId7"/>
    <p:sldId id="310" r:id="rId8"/>
    <p:sldId id="311" r:id="rId9"/>
    <p:sldId id="303" r:id="rId10"/>
    <p:sldId id="306" r:id="rId11"/>
    <p:sldId id="302" r:id="rId12"/>
    <p:sldId id="304" r:id="rId13"/>
    <p:sldId id="305" r:id="rId14"/>
    <p:sldId id="307" r:id="rId15"/>
    <p:sldId id="308" r:id="rId16"/>
    <p:sldId id="312" r:id="rId17"/>
    <p:sldId id="313" r:id="rId18"/>
    <p:sldId id="314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  <p:embeddedFont>
      <p:font typeface="Cambria Math" panose="02040503050406030204" pitchFamily="18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y5nxnATgMoCOGV3ARYra+CxDx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83A161-F018-450C-8C74-550FE90D2DAF}">
  <a:tblStyle styleId="{3F83A161-F018-450C-8C74-550FE90D2D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8798205-3320-4BAB-A025-7DCF17E42A7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06B517-349B-424C-8ABE-6FF9AA96335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16" autoAdjust="0"/>
  </p:normalViewPr>
  <p:slideViewPr>
    <p:cSldViewPr snapToGrid="0">
      <p:cViewPr varScale="1">
        <p:scale>
          <a:sx n="146" d="100"/>
          <a:sy n="146" d="100"/>
        </p:scale>
        <p:origin x="65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B414E66-1919-FF4F-D787-C9B02B8E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EC95F54-02AA-128B-61E5-D957FF92E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C5B15F72-9A2D-67AC-CA1F-5F3CBEC9D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Bom dia </a:t>
            </a:r>
            <a:r>
              <a:rPr lang="pt-PT" dirty="0" err="1"/>
              <a:t>atodos</a:t>
            </a:r>
            <a:r>
              <a:rPr lang="pt-PT" dirty="0"/>
              <a:t>. O meu trabalho trata o controlo de uma plataforma sísmica com objetivo de replicar sismos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8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B70AB15-8088-3032-98B1-D170B9DC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7BF4933-25A2-C819-6464-13046E051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439F98CD-01EC-2198-42FB-34FBACD45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120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4295938-F586-C0AB-0DC5-9E7A6FC6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A51F0DF-570E-694A-45F2-C47B230A0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6EE88672-A619-994A-80A5-F034293E0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0296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28A8B38-BB3F-85C0-D315-C213F122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84E400BB-5854-A454-A715-BE80EF81D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6BE92B13-CAEC-CC9B-EBE3-52BE348ED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406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DE2A094-C42F-1C53-60B5-D258978D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8AE5274-FE8C-7502-24FC-185C4F37A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B0BA9138-6B71-E41F-EE4F-34B7A0043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Portanto, qual é o problema da plataforma sísmica?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69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341DD53-B632-4445-DAD5-6F5132AC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CADC7322-9768-B117-B25A-019FFC91C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592CF98F-3469-CC3B-9739-C88F6662E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Construiu-se um modelo para a plataforma a partir de modelos analíticos dos seus componentes individuais, e com um sistema de dois graus de liberdade acoplado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8880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929109-ACC3-6E8E-2708-3527DBB4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0BC9188-564C-424F-DBC6-3D9626808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0E6E4A8-891F-56EE-47C1-069F1FA0D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Não tem a dinâmica desejada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3530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BC53683-3519-33C6-82B1-20B7AD70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2FC5A1D-18B2-882E-380D-ACB1CB803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0B834FC-67F2-4AF9-2713-C6B48DAA7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Ora daqui partimos para a modelação matemática para estudar o problema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700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0901DA-3790-8584-65CA-E31A79FE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B96BFB2-95D0-F99B-1924-F40865AB9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02B4EC06-D3A1-37DC-F74C-931126BEB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3468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87CCB51-C230-AD1A-E885-11A4405A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67197B9-C7D2-13D4-7CA8-071E55C04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A83741B-F602-3C59-868B-0A6C4D37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6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C6D5F90-5486-664F-5053-6364CAC6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7A45F4D5-67A3-27D9-323B-F1ED435B4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B572ED5-B218-B186-BBC0-46A0E5223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Daqui tiraram-se umas quantas equações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3022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E7DCDDA-A7BF-FB6C-4034-26BE408B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9935817-7BBB-1B15-1DFA-A183532AD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35D740A-D615-52C6-D247-516222F0B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1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B4D8FE2-DCFB-E549-AC54-9E9FFEB8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130E2C6-AF4A-8BA7-20B9-56CBE4350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A000EFC-E362-D005-764E-169AD65ED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Para se obter funções de transferência que relacionassem as quantidades que pretendemos estudar, e simular o comportamento da mesa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1082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7AD9A88-65FC-4BFA-8DDE-7812F4BF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40A78130-812B-A796-67EA-0A835EFC8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D78809D7-6BAE-473C-3FD2-8E3EC3F3D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Como o comportamento da mesa é afetado pela dinâmica das estruturas tipicamente em teste, definiram-se parâmetros representativos desse comportamento para o modelo de 2 graus de liberdade que se encontra acoplado á mesa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4625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81A06C6-C366-3900-ED8F-498FAD41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F9D4C23-3D4F-E842-F4C8-3CE1C34C5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A657D861-C201-0B07-8A80-7AA827BAD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De seguida realizaram-se simulações, e comparou-se a performance do controlador proporcional padrão em uso no LNEC, a um controlador </a:t>
            </a:r>
            <a:r>
              <a:rPr lang="pt-PT" b="0" dirty="0"/>
              <a:t>proporcional integral derivativo filtrado afinado para a referencia em uso.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3017713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889D7AB-1EE9-3BC5-0F8E-4DB9A01A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0FE7B7ED-921E-CF53-A4DE-44A0BA027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8C49296-2AEB-C96A-5879-9DB7904AB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dirty="0"/>
              <a:t>O controlador </a:t>
            </a:r>
            <a:r>
              <a:rPr lang="pt-PT" b="0" dirty="0"/>
              <a:t>afinado melhorou significativamente a performance em termos de espetro de resposta, e é possivel que seja relativamente simples de implementar no hardware da </a:t>
            </a:r>
            <a:r>
              <a:rPr lang="pt-PT" b="0" dirty="0" err="1"/>
              <a:t>National</a:t>
            </a:r>
            <a:r>
              <a:rPr lang="pt-PT" b="0" dirty="0"/>
              <a:t> </a:t>
            </a:r>
            <a:r>
              <a:rPr lang="pt-PT" b="0" dirty="0" err="1"/>
              <a:t>Instruments</a:t>
            </a:r>
            <a:r>
              <a:rPr lang="pt-PT" b="0" dirty="0"/>
              <a:t> em uso no LNEC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214618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A29D4A9-A9C8-EBBE-1986-338D022B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61B1FBF0-18C5-3843-1383-9A02EB518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B9D76B4D-84B2-8CB3-B77F-BD64EB5F3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b="0" dirty="0"/>
              <a:t>Observaram-se também outras métricas como aceleração e deslocamento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3411999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C93E9C1-892E-BAB6-5DA1-9627E3D2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EE5EEE9C-313A-08F5-1E7D-3D11EBF13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F8A97D76-E84E-117B-59AD-311A85C0E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 b="0" dirty="0"/>
              <a:t>E o input para a servo válvula, e o diagrama de Bode, onde a frequencia de corte subiu de  5 para 18 Hz, sendo isto importante dado que a frequencia do segundo modo de estruturas tipicamente em teste está entre 6 e 10 HZ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94437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7FAFF60-05F6-AEE3-9E6B-10B79F11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76D6C995-E668-D8C4-6E0D-96B8F3539E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40210" y="193527"/>
            <a:ext cx="7863577" cy="1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Desenvolvimento de Estratégias de Controlo para Replicação de Sismos em  Plataforma Sísmica</a:t>
            </a:r>
            <a:endParaRPr lang="pt-PT" sz="2400" b="1" noProof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" name="Google Shape;57;p1">
            <a:extLst>
              <a:ext uri="{FF2B5EF4-FFF2-40B4-BE49-F238E27FC236}">
                <a16:creationId xmlns:a16="http://schemas.microsoft.com/office/drawing/2014/main" id="{17E1B624-C995-E5D1-F688-8E27F55B382A}"/>
              </a:ext>
            </a:extLst>
          </p:cNvPr>
          <p:cNvSpPr txBox="1"/>
          <p:nvPr/>
        </p:nvSpPr>
        <p:spPr>
          <a:xfrm>
            <a:off x="2415124" y="3482698"/>
            <a:ext cx="4313752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 b="1" i="0" u="none" strike="noStrike" cap="none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Afonso Costa Henrique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PT" sz="1600" b="1" i="0" u="none" strike="noStrike" cap="none" noProof="0" dirty="0">
              <a:solidFill>
                <a:schemeClr val="accent2">
                  <a:lumMod val="75000"/>
                  <a:lumOff val="25000"/>
                </a:schemeClr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200" b="1" i="0" u="none" strike="noStrike" cap="none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Orientadores:</a:t>
            </a:r>
            <a:r>
              <a:rPr lang="pt-PT" sz="1200" b="1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pt-PT" sz="1200" b="1" i="0" u="none" strike="noStrike" cap="none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Miguel Ayala Botto</a:t>
            </a:r>
            <a:r>
              <a:rPr lang="pt-PT" sz="1200" b="1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  &amp; </a:t>
            </a:r>
            <a:r>
              <a:rPr lang="pt-PT" sz="1200" b="1" i="0" u="none" strike="noStrike" cap="none" noProof="0" dirty="0">
                <a:solidFill>
                  <a:schemeClr val="accent2">
                    <a:lumMod val="75000"/>
                    <a:lumOff val="25000"/>
                  </a:schemeClr>
                </a:solidFill>
                <a:latin typeface="Bebas Neue"/>
                <a:ea typeface="Bebas Neue"/>
                <a:cs typeface="Bebas Neue"/>
                <a:sym typeface="Bebas Neue"/>
              </a:rPr>
              <a:t>Fernando Pires de Oliveira </a:t>
            </a:r>
          </a:p>
        </p:txBody>
      </p:sp>
      <p:pic>
        <p:nvPicPr>
          <p:cNvPr id="3" name="Imagem 2" descr="Uma imagem com Modelo em escala, Brinquedo de conjunto para construção, Bloco de brincar, plástico&#10;&#10;Descrição gerada automaticamente">
            <a:extLst>
              <a:ext uri="{FF2B5EF4-FFF2-40B4-BE49-F238E27FC236}">
                <a16:creationId xmlns:a16="http://schemas.microsoft.com/office/drawing/2014/main" id="{DFE6F5BB-E843-4A21-4689-1DEBE4E3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16" y="1391385"/>
            <a:ext cx="2727184" cy="1884165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F2772A7E-E674-CE5F-4B0E-ACE7B5407B1F}"/>
              </a:ext>
            </a:extLst>
          </p:cNvPr>
          <p:cNvSpPr/>
          <p:nvPr/>
        </p:nvSpPr>
        <p:spPr>
          <a:xfrm>
            <a:off x="0" y="0"/>
            <a:ext cx="9144000" cy="26778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2" name="Picture 4" descr="OPENCoastS">
            <a:extLst>
              <a:ext uri="{FF2B5EF4-FFF2-40B4-BE49-F238E27FC236}">
                <a16:creationId xmlns:a16="http://schemas.microsoft.com/office/drawing/2014/main" id="{BB2E5850-8A88-37EC-EFBE-608432D76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49" y="4507752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F85D87-1885-10CF-C4B0-A5D7215603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3172669" y="4507752"/>
            <a:ext cx="115276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0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65F42B-A2B2-C05E-AF26-7B2D53EF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00843989-BE71-A6F2-D282-11A8CD0B0648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64571914-5434-8AF3-F9DC-5DF6CAD17C5E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noProof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168A18-8E05-925A-23FA-6833A03F2D14}"/>
              </a:ext>
            </a:extLst>
          </p:cNvPr>
          <p:cNvSpPr txBox="1"/>
          <p:nvPr/>
        </p:nvSpPr>
        <p:spPr>
          <a:xfrm>
            <a:off x="91441" y="911482"/>
            <a:ext cx="4506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Processo de Ensaios Sísmicos no LNEC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C8F3E187-8C48-F42D-6A62-12ED12342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2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AEFA65D4-38CE-61A0-E5AD-269F1DF68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5B812A66-06E3-2B1C-F7CF-F1D432258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8C2BC11E-692B-3D3E-360B-B653BDA3E947}"/>
              </a:ext>
            </a:extLst>
          </p:cNvPr>
          <p:cNvCxnSpPr>
            <a:cxnSpLocks/>
          </p:cNvCxnSpPr>
          <p:nvPr/>
        </p:nvCxnSpPr>
        <p:spPr>
          <a:xfrm>
            <a:off x="3564527" y="2743382"/>
            <a:ext cx="943973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Imagem 15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8B5F065A-32C2-26AD-4ABF-02CF2BC4E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983" y="831789"/>
            <a:ext cx="3340791" cy="4225028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8C48BAD-5C8C-1057-DC8F-B9477BA5529F}"/>
              </a:ext>
            </a:extLst>
          </p:cNvPr>
          <p:cNvSpPr/>
          <p:nvPr/>
        </p:nvSpPr>
        <p:spPr>
          <a:xfrm>
            <a:off x="1944246" y="1509258"/>
            <a:ext cx="1186815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Ação Sísmica/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Sinal de Referência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1912BA9A-2887-F202-CFBB-511BC223ED6F}"/>
              </a:ext>
            </a:extLst>
          </p:cNvPr>
          <p:cNvCxnSpPr>
            <a:cxnSpLocks/>
          </p:cNvCxnSpPr>
          <p:nvPr/>
        </p:nvCxnSpPr>
        <p:spPr>
          <a:xfrm flipH="1">
            <a:off x="2537651" y="1940408"/>
            <a:ext cx="2" cy="47195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636A4A7-68AB-CE0F-5EB0-B0E619C0EEBF}"/>
              </a:ext>
            </a:extLst>
          </p:cNvPr>
          <p:cNvSpPr/>
          <p:nvPr/>
        </p:nvSpPr>
        <p:spPr>
          <a:xfrm>
            <a:off x="1886519" y="3059578"/>
            <a:ext cx="1282700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Geração do Sinal Drive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4E81A60-4801-7F9C-BD37-9DBBE41B2A08}"/>
              </a:ext>
            </a:extLst>
          </p:cNvPr>
          <p:cNvSpPr/>
          <p:nvPr/>
        </p:nvSpPr>
        <p:spPr>
          <a:xfrm>
            <a:off x="1846852" y="2406495"/>
            <a:ext cx="1381597" cy="415925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Identificação do Sistema</a:t>
            </a:r>
            <a:r>
              <a:rPr lang="pt-PT" sz="800" noProof="0" dirty="0">
                <a:solidFill>
                  <a:sysClr val="window" lastClr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(Plataforma Sísmica + Estrutura)</a:t>
            </a: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91CF6CC-BCA4-08CF-18B2-E467C8022E2A}"/>
              </a:ext>
            </a:extLst>
          </p:cNvPr>
          <p:cNvSpPr/>
          <p:nvPr/>
        </p:nvSpPr>
        <p:spPr>
          <a:xfrm>
            <a:off x="1787619" y="3698693"/>
            <a:ext cx="1480501" cy="280306"/>
          </a:xfrm>
          <a:prstGeom prst="rect">
            <a:avLst/>
          </a:prstGeom>
          <a:solidFill>
            <a:srgbClr val="E97132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Teste Sísmico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9871BCDD-ADA3-0AE1-A2A5-F18C9296A698}"/>
              </a:ext>
            </a:extLst>
          </p:cNvPr>
          <p:cNvCxnSpPr>
            <a:cxnSpLocks/>
          </p:cNvCxnSpPr>
          <p:nvPr/>
        </p:nvCxnSpPr>
        <p:spPr>
          <a:xfrm>
            <a:off x="2527870" y="3485393"/>
            <a:ext cx="0" cy="2036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C2862E3C-7551-5E91-FD84-4438B7F75D97}"/>
              </a:ext>
            </a:extLst>
          </p:cNvPr>
          <p:cNvCxnSpPr>
            <a:cxnSpLocks/>
          </p:cNvCxnSpPr>
          <p:nvPr/>
        </p:nvCxnSpPr>
        <p:spPr>
          <a:xfrm>
            <a:off x="2527869" y="3978999"/>
            <a:ext cx="0" cy="2631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Losango 16">
                <a:extLst>
                  <a:ext uri="{FF2B5EF4-FFF2-40B4-BE49-F238E27FC236}">
                    <a16:creationId xmlns:a16="http://schemas.microsoft.com/office/drawing/2014/main" id="{69CB92F9-B343-4703-CF0E-EABA335FFD77}"/>
                  </a:ext>
                </a:extLst>
              </p:cNvPr>
              <p:cNvSpPr/>
              <p:nvPr/>
            </p:nvSpPr>
            <p:spPr>
              <a:xfrm>
                <a:off x="213282" y="4250736"/>
                <a:ext cx="1304290" cy="519430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Testar</a:t>
                </a:r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Severidades </a:t>
                </a:r>
                <a14:m>
                  <m:oMath xmlns:m="http://schemas.openxmlformats.org/officeDocument/2006/math">
                    <m:r>
                      <a:rPr lang="pt-PT" sz="90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↑</m:t>
                    </m:r>
                  </m:oMath>
                </a14:m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Losango 16">
                <a:extLst>
                  <a:ext uri="{FF2B5EF4-FFF2-40B4-BE49-F238E27FC236}">
                    <a16:creationId xmlns:a16="http://schemas.microsoft.com/office/drawing/2014/main" id="{69CB92F9-B343-4703-CF0E-EABA335FF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82" y="4250736"/>
                <a:ext cx="1304290" cy="519430"/>
              </a:xfrm>
              <a:prstGeom prst="diamond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9C7169F9-E6CF-DEBE-FA86-32B9542AE810}"/>
              </a:ext>
            </a:extLst>
          </p:cNvPr>
          <p:cNvCxnSpPr>
            <a:cxnSpLocks/>
          </p:cNvCxnSpPr>
          <p:nvPr/>
        </p:nvCxnSpPr>
        <p:spPr>
          <a:xfrm>
            <a:off x="2537651" y="2808890"/>
            <a:ext cx="0" cy="2631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Losango 18">
            <a:extLst>
              <a:ext uri="{FF2B5EF4-FFF2-40B4-BE49-F238E27FC236}">
                <a16:creationId xmlns:a16="http://schemas.microsoft.com/office/drawing/2014/main" id="{7C6CD43E-F1C8-4E7E-433C-3B7117B1AA89}"/>
              </a:ext>
            </a:extLst>
          </p:cNvPr>
          <p:cNvSpPr/>
          <p:nvPr/>
        </p:nvSpPr>
        <p:spPr>
          <a:xfrm>
            <a:off x="1796102" y="4250736"/>
            <a:ext cx="1439445" cy="51943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E69B52B4-73F5-2152-D582-3D95E152225E}"/>
              </a:ext>
            </a:extLst>
          </p:cNvPr>
          <p:cNvCxnSpPr>
            <a:cxnSpLocks/>
          </p:cNvCxnSpPr>
          <p:nvPr/>
        </p:nvCxnSpPr>
        <p:spPr>
          <a:xfrm>
            <a:off x="3235549" y="4500784"/>
            <a:ext cx="3289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89948092-FAFA-4B5C-CBE3-1031F46FA09B}"/>
              </a:ext>
            </a:extLst>
          </p:cNvPr>
          <p:cNvCxnSpPr>
            <a:cxnSpLocks/>
          </p:cNvCxnSpPr>
          <p:nvPr/>
        </p:nvCxnSpPr>
        <p:spPr>
          <a:xfrm flipV="1">
            <a:off x="3564527" y="3254381"/>
            <a:ext cx="0" cy="12464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F17D2B76-CFDC-CC4D-AD6B-4A78DC34B6F1}"/>
              </a:ext>
            </a:extLst>
          </p:cNvPr>
          <p:cNvCxnSpPr>
            <a:cxnSpLocks/>
          </p:cNvCxnSpPr>
          <p:nvPr/>
        </p:nvCxnSpPr>
        <p:spPr>
          <a:xfrm flipH="1">
            <a:off x="3183297" y="3254381"/>
            <a:ext cx="3812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D9F3F9-0E0C-8575-5A8C-5D8D6ABC95BA}"/>
              </a:ext>
            </a:extLst>
          </p:cNvPr>
          <p:cNvSpPr/>
          <p:nvPr/>
        </p:nvSpPr>
        <p:spPr>
          <a:xfrm>
            <a:off x="3223694" y="4241072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FF000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C720E5-9F7E-0B46-F013-24C3639537D6}"/>
              </a:ext>
            </a:extLst>
          </p:cNvPr>
          <p:cNvSpPr txBox="1"/>
          <p:nvPr/>
        </p:nvSpPr>
        <p:spPr>
          <a:xfrm>
            <a:off x="3173214" y="4237218"/>
            <a:ext cx="470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FF0000"/>
                </a:solidFill>
              </a:rPr>
              <a:t>NOK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F2299944-87CD-C2EF-7DA4-625BA074ED95}"/>
              </a:ext>
            </a:extLst>
          </p:cNvPr>
          <p:cNvCxnSpPr>
            <a:cxnSpLocks/>
            <a:stCxn id="19" idx="1"/>
            <a:endCxn id="17" idx="3"/>
          </p:cNvCxnSpPr>
          <p:nvPr/>
        </p:nvCxnSpPr>
        <p:spPr>
          <a:xfrm flipH="1">
            <a:off x="1517572" y="4510451"/>
            <a:ext cx="27853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ADF4A9C3-8EB2-B156-1DA5-B85D656F37AE}"/>
              </a:ext>
            </a:extLst>
          </p:cNvPr>
          <p:cNvSpPr/>
          <p:nvPr/>
        </p:nvSpPr>
        <p:spPr>
          <a:xfrm>
            <a:off x="1518141" y="4228370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00B05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9A8D8DD-02A8-73A7-573A-486F85D55CA1}"/>
              </a:ext>
            </a:extLst>
          </p:cNvPr>
          <p:cNvSpPr txBox="1"/>
          <p:nvPr/>
        </p:nvSpPr>
        <p:spPr>
          <a:xfrm>
            <a:off x="1500158" y="4236051"/>
            <a:ext cx="398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00B050"/>
                </a:solidFill>
              </a:rPr>
              <a:t>OK</a:t>
            </a:r>
          </a:p>
        </p:txBody>
      </p:sp>
      <p:cxnSp>
        <p:nvCxnSpPr>
          <p:cNvPr id="28" name="Conexão reta 27">
            <a:extLst>
              <a:ext uri="{FF2B5EF4-FFF2-40B4-BE49-F238E27FC236}">
                <a16:creationId xmlns:a16="http://schemas.microsoft.com/office/drawing/2014/main" id="{EE8AEF30-8EF8-C11F-0CEE-93E7E9A5FDC6}"/>
              </a:ext>
            </a:extLst>
          </p:cNvPr>
          <p:cNvCxnSpPr>
            <a:cxnSpLocks/>
          </p:cNvCxnSpPr>
          <p:nvPr/>
        </p:nvCxnSpPr>
        <p:spPr>
          <a:xfrm flipV="1">
            <a:off x="865427" y="1694678"/>
            <a:ext cx="0" cy="25370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A9E538B2-FB70-54CD-1028-CC57604B1B20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865427" y="1713728"/>
            <a:ext cx="107881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9FABC12-76BB-8C21-EB24-A7FE9880D9F9}"/>
              </a:ext>
            </a:extLst>
          </p:cNvPr>
          <p:cNvSpPr txBox="1"/>
          <p:nvPr/>
        </p:nvSpPr>
        <p:spPr>
          <a:xfrm>
            <a:off x="1930763" y="4316118"/>
            <a:ext cx="118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  <a:sym typeface="Arial"/>
              </a:rPr>
              <a:t>Avaliação de Desempenho</a:t>
            </a: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85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B938C24-ED8D-D608-2AA8-EFFFFF65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DAE56E9B-F826-BC03-D9F0-4351DCCAD0BD}"/>
              </a:ext>
            </a:extLst>
          </p:cNvPr>
          <p:cNvSpPr/>
          <p:nvPr/>
        </p:nvSpPr>
        <p:spPr>
          <a:xfrm>
            <a:off x="1518141" y="4228370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BF603CD-DA64-0FB9-E6B8-895EBB890251}"/>
              </a:ext>
            </a:extLst>
          </p:cNvPr>
          <p:cNvSpPr txBox="1"/>
          <p:nvPr/>
        </p:nvSpPr>
        <p:spPr>
          <a:xfrm>
            <a:off x="1500158" y="4236051"/>
            <a:ext cx="398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ED268E4-A33B-05F5-2DB7-48118D4AD6F8}"/>
              </a:ext>
            </a:extLst>
          </p:cNvPr>
          <p:cNvSpPr/>
          <p:nvPr/>
        </p:nvSpPr>
        <p:spPr>
          <a:xfrm>
            <a:off x="1699480" y="2993125"/>
            <a:ext cx="2012613" cy="18668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34" name="Imagem 33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0CF36DFE-27CD-F6F9-1BDD-95F7F09C9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983" y="831789"/>
            <a:ext cx="3340791" cy="422502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8198BE5-C96D-4C7E-0060-47E6BA7AC4D1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2ADC6E50-9969-864F-4395-DAD65EFEAE91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noProof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6E3B833-6E9A-370E-3816-9D5A87205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3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3CAE6114-0E7D-0CEC-4935-7EAA64EE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B7CAEB3D-73C5-B996-7688-EC5EB03A69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pic>
        <p:nvPicPr>
          <p:cNvPr id="24" name="Imagem 23" descr="Uma imagem com Gráficos, design gráfic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F7276136-A696-1486-921C-6DCB3900D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594751">
            <a:off x="5290634" y="2371121"/>
            <a:ext cx="1122020" cy="901477"/>
          </a:xfrm>
          <a:prstGeom prst="rect">
            <a:avLst/>
          </a:prstGeom>
        </p:spPr>
      </p:pic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C5947835-4601-21A8-74BF-CBD2F8A492A5}"/>
              </a:ext>
            </a:extLst>
          </p:cNvPr>
          <p:cNvCxnSpPr>
            <a:cxnSpLocks/>
          </p:cNvCxnSpPr>
          <p:nvPr/>
        </p:nvCxnSpPr>
        <p:spPr>
          <a:xfrm>
            <a:off x="3564527" y="2743382"/>
            <a:ext cx="943973" cy="0"/>
          </a:xfrm>
          <a:prstGeom prst="straightConnector1">
            <a:avLst/>
          </a:prstGeom>
          <a:ln w="12700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42C5F15-37B6-6F87-B6A1-52C9F020CD3B}"/>
              </a:ext>
            </a:extLst>
          </p:cNvPr>
          <p:cNvSpPr/>
          <p:nvPr/>
        </p:nvSpPr>
        <p:spPr>
          <a:xfrm>
            <a:off x="1944246" y="1509258"/>
            <a:ext cx="1186815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Ação Sísmica/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Sinal de Referência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472AAE47-2686-A435-BBF0-188999B65B6A}"/>
              </a:ext>
            </a:extLst>
          </p:cNvPr>
          <p:cNvCxnSpPr>
            <a:cxnSpLocks/>
          </p:cNvCxnSpPr>
          <p:nvPr/>
        </p:nvCxnSpPr>
        <p:spPr>
          <a:xfrm flipH="1">
            <a:off x="2537651" y="1940408"/>
            <a:ext cx="2" cy="47195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A97E4E3-53EF-28A8-FCB2-D09B8BA74702}"/>
              </a:ext>
            </a:extLst>
          </p:cNvPr>
          <p:cNvSpPr/>
          <p:nvPr/>
        </p:nvSpPr>
        <p:spPr>
          <a:xfrm>
            <a:off x="1886519" y="3059578"/>
            <a:ext cx="1282700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Geração do Sinal Drive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2884859-3C28-FCE8-9FF7-CFFE73F6B76C}"/>
              </a:ext>
            </a:extLst>
          </p:cNvPr>
          <p:cNvSpPr/>
          <p:nvPr/>
        </p:nvSpPr>
        <p:spPr>
          <a:xfrm>
            <a:off x="1846852" y="2406495"/>
            <a:ext cx="1381597" cy="415925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Identificação do Sistema</a:t>
            </a:r>
            <a:r>
              <a:rPr lang="pt-PT" sz="800" noProof="0" dirty="0">
                <a:solidFill>
                  <a:sysClr val="window" lastClr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(Plataforma Sísmica + Estrutura)</a:t>
            </a: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887AFA-8C80-94E3-D0DC-F30478C6DD1A}"/>
              </a:ext>
            </a:extLst>
          </p:cNvPr>
          <p:cNvSpPr/>
          <p:nvPr/>
        </p:nvSpPr>
        <p:spPr>
          <a:xfrm>
            <a:off x="1787619" y="3698693"/>
            <a:ext cx="1480501" cy="280306"/>
          </a:xfrm>
          <a:prstGeom prst="rect">
            <a:avLst/>
          </a:prstGeom>
          <a:solidFill>
            <a:srgbClr val="E97132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Teste Sísmico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33B5DE84-FB32-C52B-0437-F4E153AB9DC4}"/>
              </a:ext>
            </a:extLst>
          </p:cNvPr>
          <p:cNvCxnSpPr>
            <a:cxnSpLocks/>
          </p:cNvCxnSpPr>
          <p:nvPr/>
        </p:nvCxnSpPr>
        <p:spPr>
          <a:xfrm>
            <a:off x="2527870" y="3485393"/>
            <a:ext cx="0" cy="2036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FC6C4BE8-5976-75A4-3E8E-6D0993309E5B}"/>
              </a:ext>
            </a:extLst>
          </p:cNvPr>
          <p:cNvCxnSpPr>
            <a:cxnSpLocks/>
          </p:cNvCxnSpPr>
          <p:nvPr/>
        </p:nvCxnSpPr>
        <p:spPr>
          <a:xfrm>
            <a:off x="2527869" y="3978999"/>
            <a:ext cx="0" cy="2631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Losango 18">
                <a:extLst>
                  <a:ext uri="{FF2B5EF4-FFF2-40B4-BE49-F238E27FC236}">
                    <a16:creationId xmlns:a16="http://schemas.microsoft.com/office/drawing/2014/main" id="{57A8B577-A0D3-0374-4A50-934039D34536}"/>
                  </a:ext>
                </a:extLst>
              </p:cNvPr>
              <p:cNvSpPr/>
              <p:nvPr/>
            </p:nvSpPr>
            <p:spPr>
              <a:xfrm>
                <a:off x="213282" y="4250736"/>
                <a:ext cx="1304290" cy="519430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Testar</a:t>
                </a:r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Severidades </a:t>
                </a:r>
                <a14:m>
                  <m:oMath xmlns:m="http://schemas.openxmlformats.org/officeDocument/2006/math">
                    <m:r>
                      <a:rPr lang="pt-PT" sz="90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↑</m:t>
                    </m:r>
                  </m:oMath>
                </a14:m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Losango 18">
                <a:extLst>
                  <a:ext uri="{FF2B5EF4-FFF2-40B4-BE49-F238E27FC236}">
                    <a16:creationId xmlns:a16="http://schemas.microsoft.com/office/drawing/2014/main" id="{57A8B577-A0D3-0374-4A50-934039D34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82" y="4250736"/>
                <a:ext cx="1304290" cy="519430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30FC5829-50EF-11DC-2339-3CA6404A07DB}"/>
              </a:ext>
            </a:extLst>
          </p:cNvPr>
          <p:cNvCxnSpPr>
            <a:cxnSpLocks/>
          </p:cNvCxnSpPr>
          <p:nvPr/>
        </p:nvCxnSpPr>
        <p:spPr>
          <a:xfrm>
            <a:off x="2537651" y="2808890"/>
            <a:ext cx="0" cy="2631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Losango 20">
            <a:extLst>
              <a:ext uri="{FF2B5EF4-FFF2-40B4-BE49-F238E27FC236}">
                <a16:creationId xmlns:a16="http://schemas.microsoft.com/office/drawing/2014/main" id="{92A2A8DE-3DFA-9EF4-BA7D-0044C9DBD79A}"/>
              </a:ext>
            </a:extLst>
          </p:cNvPr>
          <p:cNvSpPr/>
          <p:nvPr/>
        </p:nvSpPr>
        <p:spPr>
          <a:xfrm>
            <a:off x="1796102" y="4250736"/>
            <a:ext cx="1439445" cy="51943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C69965E6-FB2C-19C1-DA9A-8BB6FDC25485}"/>
              </a:ext>
            </a:extLst>
          </p:cNvPr>
          <p:cNvCxnSpPr>
            <a:cxnSpLocks/>
          </p:cNvCxnSpPr>
          <p:nvPr/>
        </p:nvCxnSpPr>
        <p:spPr>
          <a:xfrm>
            <a:off x="3235549" y="4500784"/>
            <a:ext cx="3289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7FFD2881-5B3A-2D9E-1D9C-A9DB3944AB7D}"/>
              </a:ext>
            </a:extLst>
          </p:cNvPr>
          <p:cNvCxnSpPr>
            <a:cxnSpLocks/>
          </p:cNvCxnSpPr>
          <p:nvPr/>
        </p:nvCxnSpPr>
        <p:spPr>
          <a:xfrm flipV="1">
            <a:off x="3564527" y="3254381"/>
            <a:ext cx="0" cy="12464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D12528C6-1285-92B7-583E-C7D8E32BA9C8}"/>
              </a:ext>
            </a:extLst>
          </p:cNvPr>
          <p:cNvCxnSpPr>
            <a:cxnSpLocks/>
          </p:cNvCxnSpPr>
          <p:nvPr/>
        </p:nvCxnSpPr>
        <p:spPr>
          <a:xfrm flipH="1">
            <a:off x="3183297" y="3254381"/>
            <a:ext cx="3812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3C898A1-981A-C3D1-EFE7-D191E0F470A0}"/>
              </a:ext>
            </a:extLst>
          </p:cNvPr>
          <p:cNvSpPr/>
          <p:nvPr/>
        </p:nvSpPr>
        <p:spPr>
          <a:xfrm>
            <a:off x="3223694" y="4241072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D742310-1308-A26C-31E1-4BB2481216FA}"/>
              </a:ext>
            </a:extLst>
          </p:cNvPr>
          <p:cNvSpPr txBox="1"/>
          <p:nvPr/>
        </p:nvSpPr>
        <p:spPr>
          <a:xfrm>
            <a:off x="3173214" y="4237218"/>
            <a:ext cx="470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FF0000"/>
                </a:solidFill>
              </a:rPr>
              <a:t>NOK</a:t>
            </a:r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2A541E60-D34A-F0E2-529A-DBDC2C7F0B55}"/>
              </a:ext>
            </a:extLst>
          </p:cNvPr>
          <p:cNvCxnSpPr>
            <a:cxnSpLocks noGrp="1" noRot="1" noMove="1" noResize="1" noEditPoints="1" noAdjustHandles="1" noChangeArrowheads="1" noChangeShapeType="1"/>
            <a:stCxn id="21" idx="1"/>
            <a:endCxn id="19" idx="3"/>
          </p:cNvCxnSpPr>
          <p:nvPr/>
        </p:nvCxnSpPr>
        <p:spPr>
          <a:xfrm flipH="1">
            <a:off x="1517572" y="4510451"/>
            <a:ext cx="27853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F44C237D-9BD9-74FE-6926-9BA913FD8B5B}"/>
              </a:ext>
            </a:extLst>
          </p:cNvPr>
          <p:cNvCxnSpPr>
            <a:cxnSpLocks/>
          </p:cNvCxnSpPr>
          <p:nvPr/>
        </p:nvCxnSpPr>
        <p:spPr>
          <a:xfrm flipV="1">
            <a:off x="865427" y="1694678"/>
            <a:ext cx="0" cy="25370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9FFCE58E-E0F2-11D9-D5F4-D02B4F3DC4C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65427" y="1713728"/>
            <a:ext cx="107881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AD1DCD9-BC97-0A6B-3DB6-30EE79B1D5D6}"/>
              </a:ext>
            </a:extLst>
          </p:cNvPr>
          <p:cNvSpPr txBox="1"/>
          <p:nvPr/>
        </p:nvSpPr>
        <p:spPr>
          <a:xfrm>
            <a:off x="1930763" y="4316118"/>
            <a:ext cx="118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  <a:sym typeface="Arial"/>
              </a:rPr>
              <a:t>Avaliação de Desempenho</a:t>
            </a: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  <a:sym typeface="Arial"/>
            </a:endParaRP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7FE913E-7087-4CA3-7014-5EBC310869A3}"/>
              </a:ext>
            </a:extLst>
          </p:cNvPr>
          <p:cNvSpPr/>
          <p:nvPr/>
        </p:nvSpPr>
        <p:spPr>
          <a:xfrm>
            <a:off x="6063098" y="3868328"/>
            <a:ext cx="2755900" cy="6814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Processo iterativo de correção do sinal de drive aumenta intensidade até se atingir o desempenho desejado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062EFE5-565F-F96E-BFB9-539F297563BD}"/>
              </a:ext>
            </a:extLst>
          </p:cNvPr>
          <p:cNvSpPr txBox="1"/>
          <p:nvPr/>
        </p:nvSpPr>
        <p:spPr>
          <a:xfrm>
            <a:off x="91441" y="911482"/>
            <a:ext cx="4506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Processo de Ensaios Sísmicos no LNEC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47D42E7-18B5-FD01-D445-8E33E67BD68B}"/>
              </a:ext>
            </a:extLst>
          </p:cNvPr>
          <p:cNvSpPr/>
          <p:nvPr/>
        </p:nvSpPr>
        <p:spPr>
          <a:xfrm>
            <a:off x="135655" y="1284000"/>
            <a:ext cx="1550633" cy="3576017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90DC3054-9BCD-FA5C-5D97-035E82984DB1}"/>
              </a:ext>
            </a:extLst>
          </p:cNvPr>
          <p:cNvSpPr/>
          <p:nvPr/>
        </p:nvSpPr>
        <p:spPr>
          <a:xfrm>
            <a:off x="1669815" y="1436401"/>
            <a:ext cx="1793224" cy="1528546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42" name="Conexão: Curva 41">
            <a:extLst>
              <a:ext uri="{FF2B5EF4-FFF2-40B4-BE49-F238E27FC236}">
                <a16:creationId xmlns:a16="http://schemas.microsoft.com/office/drawing/2014/main" id="{B3DB9BDD-0665-6DA9-2286-AB4C24CF1F7E}"/>
              </a:ext>
            </a:extLst>
          </p:cNvPr>
          <p:cNvCxnSpPr>
            <a:cxnSpLocks/>
          </p:cNvCxnSpPr>
          <p:nvPr/>
        </p:nvCxnSpPr>
        <p:spPr>
          <a:xfrm>
            <a:off x="3741759" y="3785484"/>
            <a:ext cx="2316152" cy="442886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94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E0C6B8F-D946-2661-56D1-20C36DD2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98BD0176-7237-D9FC-CAE5-F939A008246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6560120" y="2612870"/>
            <a:ext cx="9781" cy="8762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Rectangle 5">
            <a:extLst>
              <a:ext uri="{FF2B5EF4-FFF2-40B4-BE49-F238E27FC236}">
                <a16:creationId xmlns:a16="http://schemas.microsoft.com/office/drawing/2014/main" id="{F443C1A8-E76B-C054-6ED3-3B28FC579336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DA067ED8-0E71-C21A-BDC6-6C487DD1C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4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B53AA0FA-4D20-6D6D-2FBF-C1122F41F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EF6A9FB1-8259-E0A5-9B8C-96A080AA4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4D68B21-CBF0-9C27-5F1B-0D8552C896F9}"/>
              </a:ext>
            </a:extLst>
          </p:cNvPr>
          <p:cNvSpPr/>
          <p:nvPr/>
        </p:nvSpPr>
        <p:spPr>
          <a:xfrm>
            <a:off x="5976496" y="1299708"/>
            <a:ext cx="1186815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Ação Sísmica/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Sinal de Referência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BB84E865-1520-B4F8-5713-22C4AFB94AEB}"/>
              </a:ext>
            </a:extLst>
          </p:cNvPr>
          <p:cNvCxnSpPr>
            <a:cxnSpLocks/>
          </p:cNvCxnSpPr>
          <p:nvPr/>
        </p:nvCxnSpPr>
        <p:spPr>
          <a:xfrm flipH="1">
            <a:off x="6569901" y="1730858"/>
            <a:ext cx="2" cy="47195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54A3E66-3833-6C97-A885-C22FB567C823}"/>
              </a:ext>
            </a:extLst>
          </p:cNvPr>
          <p:cNvSpPr/>
          <p:nvPr/>
        </p:nvSpPr>
        <p:spPr>
          <a:xfrm>
            <a:off x="5918769" y="2850028"/>
            <a:ext cx="1282700" cy="40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900" noProof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Geração do Sinal Drive</a:t>
            </a:r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6181EF5-0EE1-FDB8-83C1-B168946BE674}"/>
              </a:ext>
            </a:extLst>
          </p:cNvPr>
          <p:cNvSpPr/>
          <p:nvPr/>
        </p:nvSpPr>
        <p:spPr>
          <a:xfrm>
            <a:off x="5879102" y="2196945"/>
            <a:ext cx="1381597" cy="415925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Identificação do Sistema</a:t>
            </a:r>
            <a:r>
              <a:rPr lang="pt-PT" sz="800" noProof="0" dirty="0">
                <a:solidFill>
                  <a:sysClr val="window" lastClr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(Plataforma Sísmica + Estrutura)</a:t>
            </a: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CA57A62-CD02-B6FB-70A5-C7B8469DD160}"/>
              </a:ext>
            </a:extLst>
          </p:cNvPr>
          <p:cNvSpPr/>
          <p:nvPr/>
        </p:nvSpPr>
        <p:spPr>
          <a:xfrm>
            <a:off x="5819869" y="3489143"/>
            <a:ext cx="1480501" cy="280306"/>
          </a:xfrm>
          <a:prstGeom prst="rect">
            <a:avLst/>
          </a:prstGeom>
          <a:solidFill>
            <a:srgbClr val="E97132"/>
          </a:solidFill>
          <a:ln w="1270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Teste Sísmico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A314C03C-BCF4-8DDC-4A54-DF525C7721BB}"/>
              </a:ext>
            </a:extLst>
          </p:cNvPr>
          <p:cNvCxnSpPr>
            <a:cxnSpLocks/>
          </p:cNvCxnSpPr>
          <p:nvPr/>
        </p:nvCxnSpPr>
        <p:spPr>
          <a:xfrm>
            <a:off x="6560119" y="3769449"/>
            <a:ext cx="0" cy="2631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Losango 18">
                <a:extLst>
                  <a:ext uri="{FF2B5EF4-FFF2-40B4-BE49-F238E27FC236}">
                    <a16:creationId xmlns:a16="http://schemas.microsoft.com/office/drawing/2014/main" id="{7DE860CC-77C5-B861-8849-4AF5ADCBD9A1}"/>
                  </a:ext>
                </a:extLst>
              </p:cNvPr>
              <p:cNvSpPr/>
              <p:nvPr/>
            </p:nvSpPr>
            <p:spPr>
              <a:xfrm>
                <a:off x="4245532" y="4041186"/>
                <a:ext cx="1304290" cy="519430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Testar</a:t>
                </a:r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:r>
                  <a:rPr lang="pt-PT" sz="9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Severidades </a:t>
                </a:r>
                <a14:m>
                  <m:oMath xmlns:m="http://schemas.openxmlformats.org/officeDocument/2006/math">
                    <m:r>
                      <a:rPr lang="pt-PT" sz="90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↑</m:t>
                    </m:r>
                  </m:oMath>
                </a14:m>
                <a:endParaRPr lang="pt-PT" noProof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Losango 18">
                <a:extLst>
                  <a:ext uri="{FF2B5EF4-FFF2-40B4-BE49-F238E27FC236}">
                    <a16:creationId xmlns:a16="http://schemas.microsoft.com/office/drawing/2014/main" id="{7DE860CC-77C5-B861-8849-4AF5ADCBD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532" y="4041186"/>
                <a:ext cx="1304290" cy="519430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osango 20">
            <a:extLst>
              <a:ext uri="{FF2B5EF4-FFF2-40B4-BE49-F238E27FC236}">
                <a16:creationId xmlns:a16="http://schemas.microsoft.com/office/drawing/2014/main" id="{DF8A5922-EA8E-D0A7-B3DE-EA90107D9B11}"/>
              </a:ext>
            </a:extLst>
          </p:cNvPr>
          <p:cNvSpPr/>
          <p:nvPr/>
        </p:nvSpPr>
        <p:spPr>
          <a:xfrm>
            <a:off x="5828352" y="4041186"/>
            <a:ext cx="1439445" cy="51943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85823742-5E1B-FE00-7AD1-B3F7C3F64A96}"/>
              </a:ext>
            </a:extLst>
          </p:cNvPr>
          <p:cNvCxnSpPr>
            <a:cxnSpLocks/>
          </p:cNvCxnSpPr>
          <p:nvPr/>
        </p:nvCxnSpPr>
        <p:spPr>
          <a:xfrm>
            <a:off x="7267799" y="4291234"/>
            <a:ext cx="3289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864D85DB-B9E9-0E42-0A33-3895668382E8}"/>
              </a:ext>
            </a:extLst>
          </p:cNvPr>
          <p:cNvCxnSpPr>
            <a:cxnSpLocks/>
          </p:cNvCxnSpPr>
          <p:nvPr/>
        </p:nvCxnSpPr>
        <p:spPr>
          <a:xfrm flipV="1">
            <a:off x="7596777" y="3044831"/>
            <a:ext cx="0" cy="12464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49526BD6-C055-6D8A-796C-5C129CCCA82C}"/>
              </a:ext>
            </a:extLst>
          </p:cNvPr>
          <p:cNvCxnSpPr>
            <a:cxnSpLocks/>
          </p:cNvCxnSpPr>
          <p:nvPr/>
        </p:nvCxnSpPr>
        <p:spPr>
          <a:xfrm flipH="1">
            <a:off x="7215547" y="3044831"/>
            <a:ext cx="3812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4888117-2DCA-8263-2E48-4930B27BBC89}"/>
              </a:ext>
            </a:extLst>
          </p:cNvPr>
          <p:cNvSpPr/>
          <p:nvPr/>
        </p:nvSpPr>
        <p:spPr>
          <a:xfrm>
            <a:off x="7255944" y="4031522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3E42D6-D39A-33A1-EB62-BA0C2C0BA5C1}"/>
              </a:ext>
            </a:extLst>
          </p:cNvPr>
          <p:cNvSpPr txBox="1"/>
          <p:nvPr/>
        </p:nvSpPr>
        <p:spPr>
          <a:xfrm>
            <a:off x="7199114" y="4027668"/>
            <a:ext cx="470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FF0000"/>
                </a:solidFill>
              </a:rPr>
              <a:t>NOK</a:t>
            </a:r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B1AA70D7-C8FF-7770-F130-DF891C7ABDFD}"/>
              </a:ext>
            </a:extLst>
          </p:cNvPr>
          <p:cNvCxnSpPr>
            <a:cxnSpLocks/>
            <a:stCxn id="21" idx="1"/>
            <a:endCxn id="19" idx="3"/>
          </p:cNvCxnSpPr>
          <p:nvPr/>
        </p:nvCxnSpPr>
        <p:spPr>
          <a:xfrm flipH="1">
            <a:off x="5549822" y="4300901"/>
            <a:ext cx="27853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1085042-C98D-3A38-24CC-D14F30687BB5}"/>
              </a:ext>
            </a:extLst>
          </p:cNvPr>
          <p:cNvSpPr/>
          <p:nvPr/>
        </p:nvSpPr>
        <p:spPr>
          <a:xfrm>
            <a:off x="5550391" y="4018820"/>
            <a:ext cx="328976" cy="238515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EB7D4B7-BDE6-0619-6151-5F9F71389ED1}"/>
              </a:ext>
            </a:extLst>
          </p:cNvPr>
          <p:cNvSpPr txBox="1"/>
          <p:nvPr/>
        </p:nvSpPr>
        <p:spPr>
          <a:xfrm>
            <a:off x="5532408" y="4026501"/>
            <a:ext cx="398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noProof="0" dirty="0">
                <a:solidFill>
                  <a:srgbClr val="00B050"/>
                </a:solidFill>
              </a:rPr>
              <a:t>OK</a:t>
            </a:r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8C519CA7-A0E4-3199-E7A4-82AAEAFEE8A5}"/>
              </a:ext>
            </a:extLst>
          </p:cNvPr>
          <p:cNvCxnSpPr>
            <a:cxnSpLocks/>
          </p:cNvCxnSpPr>
          <p:nvPr/>
        </p:nvCxnSpPr>
        <p:spPr>
          <a:xfrm flipV="1">
            <a:off x="4897677" y="1485128"/>
            <a:ext cx="0" cy="25370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2224C1CF-C80A-912D-CBFC-ED432FFFD07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897677" y="1504178"/>
            <a:ext cx="107881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BE56126-A274-E9B1-CEE5-C3B46EA9B7E1}"/>
              </a:ext>
            </a:extLst>
          </p:cNvPr>
          <p:cNvSpPr txBox="1"/>
          <p:nvPr/>
        </p:nvSpPr>
        <p:spPr>
          <a:xfrm>
            <a:off x="5963013" y="4106568"/>
            <a:ext cx="118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  <a:sym typeface="Arial"/>
              </a:rPr>
              <a:t>Avaliação de Desempenho</a:t>
            </a: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  <a:sym typeface="Arial"/>
            </a:endParaRPr>
          </a:p>
        </p:txBody>
      </p:sp>
      <p:sp>
        <p:nvSpPr>
          <p:cNvPr id="9" name="Google Shape;58;p1">
            <a:extLst>
              <a:ext uri="{FF2B5EF4-FFF2-40B4-BE49-F238E27FC236}">
                <a16:creationId xmlns:a16="http://schemas.microsoft.com/office/drawing/2014/main" id="{E6D3D0EA-DB95-43D1-80E0-5C6E876BC06D}"/>
              </a:ext>
            </a:extLst>
          </p:cNvPr>
          <p:cNvSpPr txBox="1"/>
          <p:nvPr/>
        </p:nvSpPr>
        <p:spPr>
          <a:xfrm>
            <a:off x="91441" y="85349"/>
            <a:ext cx="1371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noProof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89FB33A-D199-5F05-FE87-E2709E5D1C63}"/>
              </a:ext>
            </a:extLst>
          </p:cNvPr>
          <p:cNvSpPr txBox="1"/>
          <p:nvPr/>
        </p:nvSpPr>
        <p:spPr>
          <a:xfrm>
            <a:off x="198999" y="1366918"/>
            <a:ext cx="34014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b="1" dirty="0"/>
              <a:t>Garantir melhor desempenho da plataforma sísmica</a:t>
            </a:r>
          </a:p>
          <a:p>
            <a:endParaRPr lang="pt-P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Obtendo desempenho satisfatório na 1ª iteração de cada etapa de intensidade, reduzir/eliminar necessidade do processo iterativo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5447C73-4C88-AAC4-BA38-2C68D020CBB2}"/>
              </a:ext>
            </a:extLst>
          </p:cNvPr>
          <p:cNvSpPr txBox="1"/>
          <p:nvPr/>
        </p:nvSpPr>
        <p:spPr>
          <a:xfrm>
            <a:off x="165100" y="89959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Objetivos:</a:t>
            </a:r>
          </a:p>
        </p:txBody>
      </p:sp>
    </p:spTree>
    <p:extLst>
      <p:ext uri="{BB962C8B-B14F-4D97-AF65-F5344CB8AC3E}">
        <p14:creationId xmlns:p14="http://schemas.microsoft.com/office/powerpoint/2010/main" val="272005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5AD7D82-CCF9-89D2-4ECB-1B0AE248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39077E86-9703-935D-9B59-7EFD554771A1}"/>
              </a:ext>
            </a:extLst>
          </p:cNvPr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chemeClr val="accent2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881AF90-ACD2-ED79-3E8A-5C152850AC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5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D84F4943-F294-D0E4-EC8F-6CA6DF6C2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43" y="54000"/>
            <a:ext cx="1430843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D49771AF-7E7B-B57E-6DBD-6DC19CBE4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6201763" y="54000"/>
            <a:ext cx="1152766" cy="432000"/>
          </a:xfrm>
          <a:prstGeom prst="rect">
            <a:avLst/>
          </a:prstGeom>
        </p:spPr>
      </p:pic>
      <p:sp>
        <p:nvSpPr>
          <p:cNvPr id="9" name="Google Shape;58;p1">
            <a:extLst>
              <a:ext uri="{FF2B5EF4-FFF2-40B4-BE49-F238E27FC236}">
                <a16:creationId xmlns:a16="http://schemas.microsoft.com/office/drawing/2014/main" id="{B232B54C-7EB0-7531-B686-3384825672C2}"/>
              </a:ext>
            </a:extLst>
          </p:cNvPr>
          <p:cNvSpPr txBox="1"/>
          <p:nvPr/>
        </p:nvSpPr>
        <p:spPr>
          <a:xfrm>
            <a:off x="77068" y="-50123"/>
            <a:ext cx="3910731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b="1" i="0" u="none" strike="noStrike" cap="none" noProof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Avaliação de desempenho de  </a:t>
            </a:r>
            <a:r>
              <a:rPr lang="pt-PT" b="1" dirty="0">
                <a:solidFill>
                  <a:schemeClr val="accent2"/>
                </a:solidFill>
              </a:rPr>
              <a:t>estratégias de controlo em ambiente de simulação</a:t>
            </a:r>
            <a:endParaRPr lang="pt-PT" b="1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m 6" descr="Uma imagem com texto, file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AF93C031-FDB1-F2C9-2400-FF24569AD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17" y="1446742"/>
            <a:ext cx="8143765" cy="207369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A11882A-172A-5C21-DDB9-4387CDA80E0A}"/>
              </a:ext>
            </a:extLst>
          </p:cNvPr>
          <p:cNvSpPr txBox="1"/>
          <p:nvPr/>
        </p:nvSpPr>
        <p:spPr>
          <a:xfrm>
            <a:off x="77068" y="977383"/>
            <a:ext cx="3809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Modelo da mesa uniaxial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E04CA85-09EF-7C3B-36C4-41883E99B463}"/>
              </a:ext>
            </a:extLst>
          </p:cNvPr>
          <p:cNvSpPr txBox="1"/>
          <p:nvPr/>
        </p:nvSpPr>
        <p:spPr>
          <a:xfrm>
            <a:off x="7778168" y="3389635"/>
            <a:ext cx="1335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050" b="1" noProof="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(</a:t>
            </a:r>
            <a:r>
              <a:rPr lang="pt-PT" sz="1050" b="1" noProof="0" dirty="0" err="1">
                <a:solidFill>
                  <a:schemeClr val="accent2">
                    <a:lumMod val="90000"/>
                    <a:lumOff val="10000"/>
                  </a:schemeClr>
                </a:solidFill>
              </a:rPr>
              <a:t>Tekeste</a:t>
            </a:r>
            <a:r>
              <a:rPr lang="pt-PT" sz="1050" b="1" noProof="0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, 2021)</a:t>
            </a:r>
            <a:endParaRPr lang="pt-PT" sz="1050" dirty="0">
              <a:solidFill>
                <a:schemeClr val="accent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1F06004-120F-6995-907E-66DF84DE5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55" y="1472142"/>
            <a:ext cx="6511888" cy="304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8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ED9EE25-847D-9C50-D943-4550D224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87E9D870-FA2C-CDE3-4C62-F81108D159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768C974E-8492-CA2C-4779-3910A2692ED3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D35AD-E4A0-B767-9D6B-596092DCBF7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B7F3D80B-532E-D15B-2EF9-A4B963103055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E29087FF-F85C-2F52-8603-A078B26DA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79BF5668-4A4B-6394-5C9C-746AA5E5F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C3CF0163-5EB4-DE1C-8A19-02587FE23204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CDAD351-0C8C-AA39-003F-04D9ECEB9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A88573F8-81AC-3425-BEC1-D0473ED96E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6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69865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9BFB2C-D342-58A8-E39D-3A27EF45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14D8E18E-763E-2DB3-D091-5A2D96DBC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BFCD7832-CFA8-F1FD-DEB0-FE24EE128EDA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F6386F-0C67-3602-E818-37E637A975C1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Definição de Problema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6DFBBB63-5943-B90D-C80E-037EACFEEE71}"/>
              </a:ext>
            </a:extLst>
          </p:cNvPr>
          <p:cNvCxnSpPr>
            <a:cxnSpLocks/>
          </p:cNvCxnSpPr>
          <p:nvPr/>
        </p:nvCxnSpPr>
        <p:spPr>
          <a:xfrm>
            <a:off x="4298766" y="659891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2116A9-FAF0-0045-544E-40E1B661FD76}"/>
              </a:ext>
            </a:extLst>
          </p:cNvPr>
          <p:cNvSpPr txBox="1"/>
          <p:nvPr/>
        </p:nvSpPr>
        <p:spPr>
          <a:xfrm>
            <a:off x="1557758" y="1675089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noProof="0" dirty="0"/>
              <a:t>Plataforma sísmica não tem a dinâmica desejada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3AF2A881-55EA-608C-A725-EC47D6492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7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848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E5A6190-286E-E48E-6AD0-6E4BFA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40D2AB13-4009-1A27-79D7-F78B4A6B15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AA213B46-37D8-F4A6-C559-396206F67D86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83DCBE-7078-0EB7-EBA2-1BE859F34258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Definição de Problema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592D053E-9D39-D684-2665-774AAA4F1496}"/>
              </a:ext>
            </a:extLst>
          </p:cNvPr>
          <p:cNvCxnSpPr>
            <a:cxnSpLocks/>
          </p:cNvCxnSpPr>
          <p:nvPr/>
        </p:nvCxnSpPr>
        <p:spPr>
          <a:xfrm>
            <a:off x="4298766" y="659891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A7D0BA-F581-86B0-971E-18F291C71550}"/>
              </a:ext>
            </a:extLst>
          </p:cNvPr>
          <p:cNvSpPr txBox="1"/>
          <p:nvPr/>
        </p:nvSpPr>
        <p:spPr>
          <a:xfrm>
            <a:off x="1557758" y="1675089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noProof="0" dirty="0"/>
              <a:t>Plataforma sísmica não tem a dinâmica desejada</a:t>
            </a:r>
          </a:p>
        </p:txBody>
      </p: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DE98CFF9-106C-B694-5B92-5C9EFA63F5F1}"/>
              </a:ext>
            </a:extLst>
          </p:cNvPr>
          <p:cNvCxnSpPr>
            <a:cxnSpLocks/>
          </p:cNvCxnSpPr>
          <p:nvPr/>
        </p:nvCxnSpPr>
        <p:spPr>
          <a:xfrm>
            <a:off x="4298766" y="1982866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8EBD8A-DCAF-4AD6-06AD-D4DEE883146B}"/>
              </a:ext>
            </a:extLst>
          </p:cNvPr>
          <p:cNvSpPr txBox="1"/>
          <p:nvPr/>
        </p:nvSpPr>
        <p:spPr>
          <a:xfrm>
            <a:off x="1557757" y="2998064"/>
            <a:ext cx="5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noProof="0" dirty="0"/>
              <a:t>Modelação matemática para estudar o problema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8B071A4-8E21-536B-10B5-8FF1C8FA7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8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26635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D9EBA4B-30DC-4AAC-B835-7F261426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38B8BDFC-AA5B-7B11-7F81-8EC5B3884E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7085E1ED-7664-08BD-1942-D04ACF70A4B2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C789C0-4909-6085-A715-F8C8D265D4EE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C69224CE-10F4-E2D4-BBCF-FBD313AC9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25" y="1147913"/>
            <a:ext cx="5458371" cy="2847673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08290D7-3F1B-87C4-8366-AE572F750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9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34236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7685EA1A-265B-A635-0F86-A53DD525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FD764D0A-69DF-F7DE-8D33-C0CB55CA37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C8A8B5D9-31B8-B10A-E491-6F521B1F0729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0C1136E-4554-3781-A336-111BBA806E82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DC06732E-6BEA-2022-A90E-CB6ACF9D9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61199FE-F95B-3762-EA79-81CBF57293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10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86356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28AF70D-ED0D-5E37-C6CF-06A7774C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7DDB923-7554-C9DD-88CC-84D2BB3B69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67C07922-3C87-ED89-213C-50F68BA5F795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1CB787-9008-AAAD-B6F9-5F73AFFA90E1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EE0325C9-E123-CA99-E4CA-0BE56EF184A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077E0645-056F-45A6-0486-13CF9B5C3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1AE42FA2-94AC-52C3-56D5-73E4F10BF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992C283C-3087-1265-4C9A-ABACB4570A38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D2CD8B5-05A9-F8AF-3F7F-89D43AABF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94A059CA-3D01-18A0-203D-BF657F568057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6B7F79F2-1A92-64BE-264A-5EF01F074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178" y="1408156"/>
            <a:ext cx="4637314" cy="1064302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AEFF7552-B0ED-DC1F-A127-F795FABF7F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11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69838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6B00F0-BCB3-095C-713A-C0AA48F6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A46A26B-E249-418C-1C31-9ECA69A0C6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1928C411-5E80-2AC7-86F2-D282BC014D23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E84D09-8B28-2310-CD72-852E97508B7D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DA1335BB-D5FC-9119-928D-C6BA172C553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9C8E1F43-F3E5-367F-DEBE-231D798E0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F66A89AD-30B4-561A-4EB9-A2752E5F7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D2EFBCB0-91DA-3878-9EC2-16618E7E6E28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47FF4F6-B34D-47A4-D556-15667736D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B7C53DE2-A1F4-5A1B-40A9-F3C31F287BB1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8F353B69-C777-BDF9-7B43-8253C1478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206" y="1081585"/>
            <a:ext cx="4637314" cy="106430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9185B6-0D29-98F1-6E3A-EBCA980DCE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5432" y="965847"/>
            <a:ext cx="4351368" cy="1665547"/>
          </a:xfrm>
          <a:prstGeom prst="rect">
            <a:avLst/>
          </a:prstGeom>
        </p:spPr>
      </p:pic>
      <p:sp>
        <p:nvSpPr>
          <p:cNvPr id="2" name="Cruzada 1">
            <a:extLst>
              <a:ext uri="{FF2B5EF4-FFF2-40B4-BE49-F238E27FC236}">
                <a16:creationId xmlns:a16="http://schemas.microsoft.com/office/drawing/2014/main" id="{ED76E383-6790-FA23-0A64-83FA36D9AB31}"/>
              </a:ext>
            </a:extLst>
          </p:cNvPr>
          <p:cNvSpPr/>
          <p:nvPr/>
        </p:nvSpPr>
        <p:spPr>
          <a:xfrm>
            <a:off x="3998332" y="1731560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9BBB741-FC47-7A1B-1515-0EB6FD437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12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60840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489D03E-D5CC-421B-3C53-CA004416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A56B8F63-8C38-57A5-BC95-E2296DA78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F0CCBED1-A93F-A225-3B70-3EED937EF809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8E32CD-F039-A276-7CB0-C31E3FE6B208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85A5BBE5-AFA4-B396-87A7-CAC169455CB2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2DEF4FB0-C2AE-975C-BA16-C4FFDC2AA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B0D897B9-4033-D855-95A2-B129A124B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36F52998-832B-F6CE-AC0B-426E4AF4BFEC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237D325-BBDB-CD06-A741-C552EFF86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5494787D-67AA-ED59-DDC8-050BE9F0B74E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8D2010F6-7F96-88B3-42A4-0BD455605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206" y="1081585"/>
            <a:ext cx="4637314" cy="1064302"/>
          </a:xfrm>
          <a:prstGeom prst="rect">
            <a:avLst/>
          </a:prstGeom>
        </p:spPr>
      </p:pic>
      <p:sp>
        <p:nvSpPr>
          <p:cNvPr id="2" name="Cruzada 1">
            <a:extLst>
              <a:ext uri="{FF2B5EF4-FFF2-40B4-BE49-F238E27FC236}">
                <a16:creationId xmlns:a16="http://schemas.microsoft.com/office/drawing/2014/main" id="{6274F658-A0E2-9382-62F9-3475DA269088}"/>
              </a:ext>
            </a:extLst>
          </p:cNvPr>
          <p:cNvSpPr/>
          <p:nvPr/>
        </p:nvSpPr>
        <p:spPr>
          <a:xfrm>
            <a:off x="3998332" y="1731560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C4C4796-222D-2809-2DAD-19E6D8D54B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863" y="1009730"/>
            <a:ext cx="5511137" cy="1490504"/>
          </a:xfrm>
          <a:prstGeom prst="rect">
            <a:avLst/>
          </a:prstGeom>
        </p:spPr>
      </p:pic>
      <p:sp>
        <p:nvSpPr>
          <p:cNvPr id="12" name="Cruzada 11">
            <a:extLst>
              <a:ext uri="{FF2B5EF4-FFF2-40B4-BE49-F238E27FC236}">
                <a16:creationId xmlns:a16="http://schemas.microsoft.com/office/drawing/2014/main" id="{B86FA2CA-804A-4A62-917C-A00571B341A5}"/>
              </a:ext>
            </a:extLst>
          </p:cNvPr>
          <p:cNvSpPr/>
          <p:nvPr/>
        </p:nvSpPr>
        <p:spPr>
          <a:xfrm>
            <a:off x="4041519" y="214588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F4C07DCF-BC46-FE7D-C345-243BE0547E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13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388691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3443918-7BDD-7824-1F5A-68218D1C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A2DE008C-27EA-7520-EFBB-92CCB8896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EE1693DB-11AB-A8AB-C284-42CBBD7E5868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28E21C-5F4D-0DA2-0440-5AB3C4ABB79F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Modelação Matemática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B3944CF3-BBAF-E824-BEFC-15D028DAB59E}"/>
              </a:ext>
            </a:extLst>
          </p:cNvPr>
          <p:cNvCxnSpPr>
            <a:cxnSpLocks/>
          </p:cNvCxnSpPr>
          <p:nvPr/>
        </p:nvCxnSpPr>
        <p:spPr>
          <a:xfrm>
            <a:off x="1823355" y="2409638"/>
            <a:ext cx="0" cy="914859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diagrama, captura de ecrã, Esquema&#10;&#10;Descrição gerada automaticamente">
            <a:extLst>
              <a:ext uri="{FF2B5EF4-FFF2-40B4-BE49-F238E27FC236}">
                <a16:creationId xmlns:a16="http://schemas.microsoft.com/office/drawing/2014/main" id="{B736C119-F9DB-434A-CC4D-93AB9D2B8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49116"/>
            <a:ext cx="2655532" cy="1385411"/>
          </a:xfrm>
          <a:prstGeom prst="rect">
            <a:avLst/>
          </a:prstGeom>
        </p:spPr>
      </p:pic>
      <p:pic>
        <p:nvPicPr>
          <p:cNvPr id="8" name="Imagem 7" descr="Uma imagem com diagrama, file, Tipo de letra, Esquema&#10;&#10;Descrição gerada automaticamente">
            <a:extLst>
              <a:ext uri="{FF2B5EF4-FFF2-40B4-BE49-F238E27FC236}">
                <a16:creationId xmlns:a16="http://schemas.microsoft.com/office/drawing/2014/main" id="{44FFF6AE-603A-8A20-0F24-9CAB825D1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6" y="3571616"/>
            <a:ext cx="2862226" cy="722768"/>
          </a:xfrm>
          <a:prstGeom prst="rect">
            <a:avLst/>
          </a:prstGeom>
        </p:spPr>
      </p:pic>
      <p:sp>
        <p:nvSpPr>
          <p:cNvPr id="9" name="Cruzada 8">
            <a:extLst>
              <a:ext uri="{FF2B5EF4-FFF2-40B4-BE49-F238E27FC236}">
                <a16:creationId xmlns:a16="http://schemas.microsoft.com/office/drawing/2014/main" id="{3F0548B5-820C-8CAE-AD99-0D080AECEB72}"/>
              </a:ext>
            </a:extLst>
          </p:cNvPr>
          <p:cNvSpPr/>
          <p:nvPr/>
        </p:nvSpPr>
        <p:spPr>
          <a:xfrm>
            <a:off x="3275876" y="3690257"/>
            <a:ext cx="433975" cy="44351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223685-52EC-BD49-05D0-D2F8ED713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605" y="3490347"/>
            <a:ext cx="2391467" cy="10189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B48959-224D-1711-7BB8-1FFEA7050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716" y="2127994"/>
            <a:ext cx="4473850" cy="910491"/>
          </a:xfrm>
          <a:prstGeom prst="rect">
            <a:avLst/>
          </a:prstGeom>
        </p:spPr>
      </p:pic>
      <p:sp>
        <p:nvSpPr>
          <p:cNvPr id="12" name="Cruzada 11">
            <a:extLst>
              <a:ext uri="{FF2B5EF4-FFF2-40B4-BE49-F238E27FC236}">
                <a16:creationId xmlns:a16="http://schemas.microsoft.com/office/drawing/2014/main" id="{4F0B372B-3A8C-9CF5-F835-735E1C51BBDF}"/>
              </a:ext>
            </a:extLst>
          </p:cNvPr>
          <p:cNvSpPr/>
          <p:nvPr/>
        </p:nvSpPr>
        <p:spPr>
          <a:xfrm>
            <a:off x="3982844" y="2286388"/>
            <a:ext cx="316194" cy="323143"/>
          </a:xfrm>
          <a:prstGeom prst="plus">
            <a:avLst>
              <a:gd name="adj" fmla="val 4601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3226E8-11DE-6EC5-BBB0-4E12A8B3AF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1683" y="818041"/>
            <a:ext cx="3130883" cy="1134586"/>
          </a:xfrm>
          <a:prstGeom prst="rect">
            <a:avLst/>
          </a:prstGeom>
        </p:spPr>
      </p:pic>
      <p:cxnSp>
        <p:nvCxnSpPr>
          <p:cNvPr id="13" name="Conexão: Curva 25">
            <a:extLst>
              <a:ext uri="{FF2B5EF4-FFF2-40B4-BE49-F238E27FC236}">
                <a16:creationId xmlns:a16="http://schemas.microsoft.com/office/drawing/2014/main" id="{AD4F0303-6164-4274-D847-E2906E517CEF}"/>
              </a:ext>
            </a:extLst>
          </p:cNvPr>
          <p:cNvCxnSpPr>
            <a:cxnSpLocks/>
          </p:cNvCxnSpPr>
          <p:nvPr/>
        </p:nvCxnSpPr>
        <p:spPr>
          <a:xfrm flipV="1">
            <a:off x="4758906" y="1306824"/>
            <a:ext cx="992777" cy="578833"/>
          </a:xfrm>
          <a:prstGeom prst="bentConnector3">
            <a:avLst>
              <a:gd name="adj1" fmla="val -5921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37DDB5E9-DEA7-6F88-07D9-541E9F1D5614}"/>
              </a:ext>
            </a:extLst>
          </p:cNvPr>
          <p:cNvCxnSpPr>
            <a:cxnSpLocks/>
          </p:cNvCxnSpPr>
          <p:nvPr/>
        </p:nvCxnSpPr>
        <p:spPr>
          <a:xfrm flipV="1">
            <a:off x="6396084" y="2997613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3CCBCAA6-ED09-B079-8095-DB20B20F8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14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577716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EBD90E4-3E64-68AD-480A-6FBDCE86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8CFDCB71-9160-1C4D-6FF1-E4D2B320FB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CE1B1F1B-B57F-B270-27AD-EA6EE01960BA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6AAF8E-42CF-AFED-F58B-649016476D5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Simulação de Plataforma Sísmica</a:t>
            </a:r>
          </a:p>
        </p:txBody>
      </p:sp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3FB61C2A-5214-68DD-645D-2E5229CB11BF}"/>
              </a:ext>
            </a:extLst>
          </p:cNvPr>
          <p:cNvCxnSpPr>
            <a:cxnSpLocks/>
          </p:cNvCxnSpPr>
          <p:nvPr/>
        </p:nvCxnSpPr>
        <p:spPr>
          <a:xfrm>
            <a:off x="3481623" y="2721686"/>
            <a:ext cx="902423" cy="0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FFAB558B-A856-0071-8752-E641874BD86D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3" name="Imagem 12" descr="Uma imagem com texto, diagrama, Tipo de letra, captura de ecrã&#10;&#10;Descrição gerada automaticamente">
            <a:extLst>
              <a:ext uri="{FF2B5EF4-FFF2-40B4-BE49-F238E27FC236}">
                <a16:creationId xmlns:a16="http://schemas.microsoft.com/office/drawing/2014/main" id="{706EBBBC-9A0F-C36A-E0E6-2DD0A8D78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836" y="1085829"/>
            <a:ext cx="1483705" cy="385534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BB1B1F-174B-ABE2-1152-7C1F70C1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274"/>
          <a:stretch/>
        </p:blipFill>
        <p:spPr>
          <a:xfrm>
            <a:off x="400694" y="4401143"/>
            <a:ext cx="4217325" cy="65731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D0B5E88-0661-8745-318B-FD289961BC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364"/>
          <a:stretch/>
        </p:blipFill>
        <p:spPr>
          <a:xfrm>
            <a:off x="451569" y="3738034"/>
            <a:ext cx="2875811" cy="657317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E139955-27B5-3548-839C-7C026FCFAEA8}"/>
              </a:ext>
            </a:extLst>
          </p:cNvPr>
          <p:cNvGrpSpPr/>
          <p:nvPr/>
        </p:nvGrpSpPr>
        <p:grpSpPr>
          <a:xfrm>
            <a:off x="222069" y="820285"/>
            <a:ext cx="3024528" cy="834205"/>
            <a:chOff x="4043703" y="2349994"/>
            <a:chExt cx="2352381" cy="647619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D6E58C0-AEC3-35E5-8649-8A143A95F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43703" y="2349994"/>
              <a:ext cx="2352381" cy="647619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3E5AD17D-4ACF-D76F-AA5C-6B7C44F2D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23" t="21299" r="91771" b="34981"/>
            <a:stretch/>
          </p:blipFill>
          <p:spPr>
            <a:xfrm>
              <a:off x="4792104" y="2428058"/>
              <a:ext cx="363045" cy="287384"/>
            </a:xfrm>
            <a:prstGeom prst="rect">
              <a:avLst/>
            </a:prstGeom>
          </p:spPr>
        </p:pic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1B245E6E-AD53-52D7-AAA5-81D6B48B07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147" y="1877727"/>
            <a:ext cx="1438476" cy="47631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78351CC-62D1-7157-2498-990F319776B1}"/>
              </a:ext>
            </a:extLst>
          </p:cNvPr>
          <p:cNvSpPr txBox="1"/>
          <p:nvPr/>
        </p:nvSpPr>
        <p:spPr>
          <a:xfrm>
            <a:off x="306977" y="1951584"/>
            <a:ext cx="212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sng" noProof="0" dirty="0"/>
              <a:t>Controlador padrão</a:t>
            </a:r>
            <a:r>
              <a:rPr lang="pt-PT" noProof="0" dirty="0"/>
              <a:t>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85D556C-3044-F155-C352-C84F8FD6B1E3}"/>
              </a:ext>
            </a:extLst>
          </p:cNvPr>
          <p:cNvSpPr/>
          <p:nvPr/>
        </p:nvSpPr>
        <p:spPr>
          <a:xfrm>
            <a:off x="1104131" y="2359835"/>
            <a:ext cx="110799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000" b="1" cap="none" spc="0" noProof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AC8591C-F06C-F32E-6691-5A4894D649E4}"/>
              </a:ext>
            </a:extLst>
          </p:cNvPr>
          <p:cNvSpPr txBox="1"/>
          <p:nvPr/>
        </p:nvSpPr>
        <p:spPr>
          <a:xfrm>
            <a:off x="373185" y="3345215"/>
            <a:ext cx="2555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sng" noProof="0" dirty="0"/>
              <a:t>Controlador PIDF (</a:t>
            </a:r>
            <a:r>
              <a:rPr lang="pt-PT" u="sng" noProof="0" dirty="0" err="1"/>
              <a:t>tuned</a:t>
            </a:r>
            <a:r>
              <a:rPr lang="pt-PT" u="sng" noProof="0" dirty="0"/>
              <a:t>)</a:t>
            </a:r>
            <a:r>
              <a:rPr lang="pt-PT" noProof="0" dirty="0"/>
              <a:t> :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37CBECF-DDC5-60DE-0346-15A464A6775C}"/>
              </a:ext>
            </a:extLst>
          </p:cNvPr>
          <p:cNvSpPr txBox="1"/>
          <p:nvPr/>
        </p:nvSpPr>
        <p:spPr>
          <a:xfrm>
            <a:off x="1736708" y="778223"/>
            <a:ext cx="3206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200" noProof="0" dirty="0" err="1"/>
              <a:t>i</a:t>
            </a:r>
            <a:r>
              <a:rPr lang="pt-PT" sz="1200" baseline="-25000" noProof="0" dirty="0" err="1"/>
              <a:t>sv</a:t>
            </a:r>
            <a:endParaRPr lang="pt-PT" sz="1200" baseline="-25000" noProof="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E3B78C8-E558-CBA3-1FD1-E4C7B81F2DB7}"/>
              </a:ext>
            </a:extLst>
          </p:cNvPr>
          <p:cNvSpPr txBox="1"/>
          <p:nvPr/>
        </p:nvSpPr>
        <p:spPr>
          <a:xfrm>
            <a:off x="4576035" y="2273422"/>
            <a:ext cx="22501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noProof="0" dirty="0"/>
              <a:t>Desempenho avaliado através do </a:t>
            </a:r>
          </a:p>
          <a:p>
            <a:pPr algn="ctr"/>
            <a:r>
              <a:rPr lang="pt-PT" b="1" noProof="0" dirty="0"/>
              <a:t>Espetro de Resposta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C306301-DAD4-2072-3124-17DB03EB7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15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76226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A4DCE72-3DBD-40FB-A874-A37955F5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35F276B7-4D90-70F5-F6F6-CF97A67BE3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266B9A3E-FEAB-4966-BFE5-6AD095F2BAC4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40D77E-47C4-2AEB-9AA5-C984F0D5518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A4EFD0F9-683B-6BE7-0F50-38F8C579C05C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Imagem 4" descr="Uma imagem com texto, file, diagrama, Gráfico&#10;&#10;Descrição gerada automaticamente">
            <a:extLst>
              <a:ext uri="{FF2B5EF4-FFF2-40B4-BE49-F238E27FC236}">
                <a16:creationId xmlns:a16="http://schemas.microsoft.com/office/drawing/2014/main" id="{E008D17F-CED5-1694-B950-4C326530C7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85" t="3511" r="7428" b="4016"/>
          <a:stretch/>
        </p:blipFill>
        <p:spPr>
          <a:xfrm>
            <a:off x="893160" y="707632"/>
            <a:ext cx="6884543" cy="34386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1068E84-7411-E58A-3789-7434540BF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882" y="4193982"/>
            <a:ext cx="2747030" cy="798235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2FAF8615-6779-E2EF-203E-682192FA8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16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82364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793D5AE-1722-0613-0E7B-D45843E9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28AC0F5C-B945-B612-0894-76FD8A3D3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56F81427-8211-A97A-F52E-250EC34ACE48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1B65E3-C7FE-E861-EA99-3237189C03B6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5713A946-8572-F211-4467-F813E88AF4B9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3" name="Imagem 2" descr="Uma imagem com texto, Gráfico, diagrama, file&#10;&#10;Descrição gerada automaticamente">
            <a:extLst>
              <a:ext uri="{FF2B5EF4-FFF2-40B4-BE49-F238E27FC236}">
                <a16:creationId xmlns:a16="http://schemas.microsoft.com/office/drawing/2014/main" id="{6A315DB4-969B-007A-A89D-5AB78930C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1" y="1198241"/>
            <a:ext cx="4211801" cy="3158851"/>
          </a:xfrm>
          <a:prstGeom prst="rect">
            <a:avLst/>
          </a:prstGeom>
        </p:spPr>
      </p:pic>
      <p:pic>
        <p:nvPicPr>
          <p:cNvPr id="7" name="Imagem 6" descr="Uma imagem com texto, diagrama, Gráfico, file&#10;&#10;Descrição gerada automaticamente">
            <a:extLst>
              <a:ext uri="{FF2B5EF4-FFF2-40B4-BE49-F238E27FC236}">
                <a16:creationId xmlns:a16="http://schemas.microsoft.com/office/drawing/2014/main" id="{25F2A612-B218-75B7-5123-1339FBFDD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432" y="1131737"/>
            <a:ext cx="4300473" cy="3225355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D55D932F-3CF1-1DCC-870C-CF61E3AF3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17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46519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4A7E2C1-2C9E-F8C7-30A2-15467343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>
            <a:extLst>
              <a:ext uri="{FF2B5EF4-FFF2-40B4-BE49-F238E27FC236}">
                <a16:creationId xmlns:a16="http://schemas.microsoft.com/office/drawing/2014/main" id="{99C1B50F-E38C-6BA3-F70A-3A3675CF21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3400" y="0"/>
            <a:ext cx="1460600" cy="6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342BD8F6-94E5-CB0F-D8BF-79B3A4F715BF}"/>
              </a:ext>
            </a:extLst>
          </p:cNvPr>
          <p:cNvSpPr txBox="1"/>
          <p:nvPr/>
        </p:nvSpPr>
        <p:spPr>
          <a:xfrm>
            <a:off x="0" y="0"/>
            <a:ext cx="1371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PT" sz="1200" b="0" i="0" u="none" strike="noStrike" cap="none" noProof="0" dirty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PSM - 2024/2025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D89004-28AE-FD47-06E8-CBD8B08A8095}"/>
              </a:ext>
            </a:extLst>
          </p:cNvPr>
          <p:cNvSpPr txBox="1"/>
          <p:nvPr/>
        </p:nvSpPr>
        <p:spPr>
          <a:xfrm>
            <a:off x="1594425" y="321337"/>
            <a:ext cx="5482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noProof="0" dirty="0"/>
              <a:t>Simulação de Plataforma Sísmica</a:t>
            </a:r>
          </a:p>
        </p:txBody>
      </p:sp>
      <p:cxnSp>
        <p:nvCxnSpPr>
          <p:cNvPr id="26" name="Conexão: Curva 25">
            <a:extLst>
              <a:ext uri="{FF2B5EF4-FFF2-40B4-BE49-F238E27FC236}">
                <a16:creationId xmlns:a16="http://schemas.microsoft.com/office/drawing/2014/main" id="{4AFF64BF-7A57-583C-499B-4DDEEF89AE5A}"/>
              </a:ext>
            </a:extLst>
          </p:cNvPr>
          <p:cNvCxnSpPr>
            <a:cxnSpLocks/>
          </p:cNvCxnSpPr>
          <p:nvPr/>
        </p:nvCxnSpPr>
        <p:spPr>
          <a:xfrm flipV="1">
            <a:off x="9407072" y="2969094"/>
            <a:ext cx="927464" cy="897092"/>
          </a:xfrm>
          <a:prstGeom prst="bentConnector3">
            <a:avLst>
              <a:gd name="adj1" fmla="val 100000"/>
            </a:avLst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" name="Imagem 3" descr="Uma imagem com texto, Gráfico, diagrama, file&#10;&#10;Descrição gerada automaticamente">
            <a:extLst>
              <a:ext uri="{FF2B5EF4-FFF2-40B4-BE49-F238E27FC236}">
                <a16:creationId xmlns:a16="http://schemas.microsoft.com/office/drawing/2014/main" id="{2323D14E-D1EE-D675-2F25-DE3EF912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91" y="1000475"/>
            <a:ext cx="4494591" cy="33696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EBD3D5B-FBEA-F9F8-5AAB-68C51BAEA9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49"/>
          <a:stretch/>
        </p:blipFill>
        <p:spPr>
          <a:xfrm>
            <a:off x="4511780" y="806631"/>
            <a:ext cx="4494591" cy="3530237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F03FB12F-7AC7-4977-169F-3987F63DD0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noProof="0" smtClean="0"/>
              <a:t>18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7795486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620</Words>
  <Application>Microsoft Office PowerPoint</Application>
  <PresentationFormat>Apresentação no Ecrã (16:9)</PresentationFormat>
  <Paragraphs>117</Paragraphs>
  <Slides>18</Slides>
  <Notes>18</Notes>
  <HiddenSlides>2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4" baseType="lpstr">
      <vt:lpstr>Cambria Math</vt:lpstr>
      <vt:lpstr>Bebas Neue</vt:lpstr>
      <vt:lpstr>Times New Roman</vt:lpstr>
      <vt:lpstr>Aptos Display</vt:lpstr>
      <vt:lpstr>Arial</vt:lpstr>
      <vt:lpstr>Simple Light</vt:lpstr>
      <vt:lpstr>Desenvolvimento de Estratégias de Controlo para Replicação de Sismos em  Plataforma Sísmica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afonso henrique</dc:creator>
  <cp:lastModifiedBy>Afonso Costa Henrique</cp:lastModifiedBy>
  <cp:revision>8</cp:revision>
  <dcterms:modified xsi:type="dcterms:W3CDTF">2025-11-20T10:54:55Z</dcterms:modified>
</cp:coreProperties>
</file>