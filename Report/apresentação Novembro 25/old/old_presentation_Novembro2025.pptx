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79" r:id="rId2"/>
    <p:sldId id="316" r:id="rId3"/>
    <p:sldId id="309" r:id="rId4"/>
    <p:sldId id="315" r:id="rId5"/>
    <p:sldId id="317" r:id="rId6"/>
    <p:sldId id="301" r:id="rId7"/>
    <p:sldId id="310" r:id="rId8"/>
    <p:sldId id="311" r:id="rId9"/>
    <p:sldId id="303" r:id="rId10"/>
    <p:sldId id="306" r:id="rId11"/>
    <p:sldId id="302" r:id="rId12"/>
    <p:sldId id="304" r:id="rId13"/>
    <p:sldId id="305" r:id="rId14"/>
    <p:sldId id="307" r:id="rId15"/>
    <p:sldId id="308" r:id="rId16"/>
    <p:sldId id="312" r:id="rId17"/>
    <p:sldId id="313" r:id="rId18"/>
    <p:sldId id="314" r:id="rId1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y5nxnATgMoCOGV3ARYra+CxDx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E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83A161-F018-450C-8C74-550FE90D2DAF}">
  <a:tblStyle styleId="{3F83A161-F018-450C-8C74-550FE90D2D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8798205-3320-4BAB-A025-7DCF17E42A7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406B517-349B-424C-8ABE-6FF9AA96335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37" autoAdjust="0"/>
    <p:restoredTop sz="94616" autoAdjust="0"/>
  </p:normalViewPr>
  <p:slideViewPr>
    <p:cSldViewPr snapToGrid="0">
      <p:cViewPr varScale="1">
        <p:scale>
          <a:sx n="146" d="100"/>
          <a:sy n="146" d="100"/>
        </p:scale>
        <p:origin x="1062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B414E66-1919-FF4F-D787-C9B02B8E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EC95F54-02AA-128B-61E5-D957FF92E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C5B15F72-9A2D-67AC-CA1F-5F3CBEC9D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Bom dia </a:t>
            </a:r>
            <a:r>
              <a:rPr lang="pt-PT" dirty="0" err="1"/>
              <a:t>atodos</a:t>
            </a:r>
            <a:r>
              <a:rPr lang="pt-PT" dirty="0"/>
              <a:t>. O meu trabalho trata o controlo de uma plataforma sísmica com objetivo de replicar sismos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888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A690077-5818-08F7-EA95-D6DB65A4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BC1EDD6-58FC-3BC2-58C6-9D5B8164A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FB49164D-F091-839F-CE6E-F5FD9F39D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Portanto, qual é o problema da plataforma sísmica?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1458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B70AB15-8088-3032-98B1-D170B9DC6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57BF4933-25A2-C819-6464-13046E051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439F98CD-01EC-2198-42FB-34FBACD45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Portanto, qual é o problema da plataforma sísmica?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4120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4295938-F586-C0AB-0DC5-9E7A6FC6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BA51F0DF-570E-694A-45F2-C47B230A0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6EE88672-A619-994A-80A5-F034293E0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Portanto, qual é o problema da plataforma sísmica?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0296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5239AC3-0B04-1748-43E4-F852C25A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2844D2EF-5F67-2110-9616-389A8AD4E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37187624-B366-D5EE-CDDB-07A20E9A7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Portanto, qual é o problema da plataforma sísmica?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1553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341DD53-B632-4445-DAD5-6F5132AC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CADC7322-9768-B117-B25A-019FFC91C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592CF98F-3469-CC3B-9739-C88F6662E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Construiu-se um modelo para a plataforma a partir de modelos analíticos dos seus componentes individuais, e com um sistema de dois graus de liberdade acoplado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8880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D929109-ACC3-6E8E-2708-3527DBB4D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B0BC9188-564C-424F-DBC6-3D96268085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10E6E4A8-891F-56EE-47C1-069F1FA0D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Não tem a dinâmica desejada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3530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BC53683-3519-33C6-82B1-20B7AD70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52FC5A1D-18B2-882E-380D-ACB1CB803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10B834FC-67F2-4AF9-2713-C6B48DAA7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Ora daqui partimos para a modelação matemática para estudar o problema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7700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D0901DA-3790-8584-65CA-E31A79FE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3B96BFB2-95D0-F99B-1924-F40865AB9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02B4EC06-D3A1-37DC-F74C-931126BEB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3468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87CCB51-C230-AD1A-E885-11A4405A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367197B9-C7D2-13D4-7CA8-071E55C04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1A83741B-F602-3C59-868B-0A6C4D37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68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C6D5F90-5486-664F-5053-6364CAC6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7A45F4D5-67A3-27D9-323B-F1ED435B4A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3B572ED5-B218-B186-BBC0-46A0E5223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Daqui tiraram-se umas quantas equações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3022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E7DCDDA-A7BF-FB6C-4034-26BE408B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9935817-7BBB-1B15-1DFA-A183532AD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735D740A-D615-52C6-D247-516222F0B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17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B4D8FE2-DCFB-E549-AC54-9E9FFEB8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130E2C6-AF4A-8BA7-20B9-56CBE4350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3A000EFC-E362-D005-764E-169AD65ED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Para se obter funções de transferência que relacionassem as quantidades que pretendemos estudar, e simular o comportamento da mesa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1082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7AD9A88-65FC-4BFA-8DDE-7812F4BF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40A78130-812B-A796-67EA-0A835EFC8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D78809D7-6BAE-473C-3FD2-8E3EC3F3D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Como o comportamento da mesa é afetado pela dinâmica das estruturas tipicamente em teste, definiram-se parâmetros representativos desse comportamento para o modelo de 2 graus de liberdade que se encontra acoplado á mesa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4625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81A06C6-C366-3900-ED8F-498FAD41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5F9D4C23-3D4F-E842-F4C8-3CE1C34C5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A657D861-C201-0B07-8A80-7AA827BAD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De seguida realizaram-se simulações, e comparou-se a performance do controlador proporcional padrão em uso no LNEC, a um controlador </a:t>
            </a:r>
            <a:r>
              <a:rPr lang="pt-PT" b="0" dirty="0"/>
              <a:t>proporcional integral derivativo filtrado afinado para a referencia em uso.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3017713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889D7AB-1EE9-3BC5-0F8E-4DB9A01A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0FE7B7ED-921E-CF53-A4DE-44A0BA027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78C49296-2AEB-C96A-5879-9DB7904AB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O controlador </a:t>
            </a:r>
            <a:r>
              <a:rPr lang="pt-PT" b="0" dirty="0"/>
              <a:t>afinado melhorou significativamente a performance em termos de espetro de resposta, e é possivel que seja relativamente simples de implementar no hardware da </a:t>
            </a:r>
            <a:r>
              <a:rPr lang="pt-PT" b="0" dirty="0" err="1"/>
              <a:t>National</a:t>
            </a:r>
            <a:r>
              <a:rPr lang="pt-PT" b="0" dirty="0"/>
              <a:t> </a:t>
            </a:r>
            <a:r>
              <a:rPr lang="pt-PT" b="0" dirty="0" err="1"/>
              <a:t>Instruments</a:t>
            </a:r>
            <a:r>
              <a:rPr lang="pt-PT" b="0" dirty="0"/>
              <a:t> em uso no LNEC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214618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A29D4A9-A9C8-EBBE-1986-338D022B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61B1FBF0-18C5-3843-1383-9A02EB518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B9D76B4D-84B2-8CB3-B77F-BD64EB5F3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b="0" dirty="0"/>
              <a:t>Observaram-se também outras métricas como aceleração e deslocamento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3411999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C93E9C1-892E-BAB6-5DA1-9627E3D2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E5EEE9C-313A-08F5-1E7D-3D11EBF13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F8A97D76-E84E-117B-59AD-311A85C0E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b="0" dirty="0"/>
              <a:t>E o input para a servo válvula, e o diagrama de Bode, onde a frequencia de corte subiu de  5 para 18 Hz, sendo isto importante dado que a frequencia do segundo modo de estruturas tipicamente em teste está entre 6 e 10 HZ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94437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7FAFF60-05F6-AEE3-9E6B-10B79F11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76D6C995-E668-D8C4-6E0D-96B8F3539E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40210" y="193527"/>
            <a:ext cx="7863577" cy="13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Desenvolvimento de Estratégias de Controlo para Replicação de Sismos em  Plataforma Sísmica</a:t>
            </a:r>
            <a:endParaRPr lang="pt-PT" sz="2400" b="1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7" name="Google Shape;57;p1">
            <a:extLst>
              <a:ext uri="{FF2B5EF4-FFF2-40B4-BE49-F238E27FC236}">
                <a16:creationId xmlns:a16="http://schemas.microsoft.com/office/drawing/2014/main" id="{17E1B624-C995-E5D1-F688-8E27F55B382A}"/>
              </a:ext>
            </a:extLst>
          </p:cNvPr>
          <p:cNvSpPr txBox="1"/>
          <p:nvPr/>
        </p:nvSpPr>
        <p:spPr>
          <a:xfrm>
            <a:off x="2415124" y="3482698"/>
            <a:ext cx="4313752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800" b="1" i="0" u="none" strike="noStrike" cap="none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Afonso Costa Henrique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PT" sz="1600" b="1" i="0" u="none" strike="noStrike" cap="none" dirty="0">
              <a:solidFill>
                <a:schemeClr val="accent2">
                  <a:lumMod val="75000"/>
                  <a:lumOff val="25000"/>
                </a:schemeClr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200" b="1" i="0" u="none" strike="noStrike" cap="none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Orientadores:</a:t>
            </a:r>
            <a:r>
              <a:rPr lang="pt-PT" sz="1200" b="1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pt-PT" sz="1200" b="1" i="0" u="none" strike="noStrike" cap="none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Miguel </a:t>
            </a:r>
            <a:r>
              <a:rPr lang="pt-PT" sz="1200" b="1" i="0" u="none" strike="noStrike" cap="none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Ayala</a:t>
            </a:r>
            <a:r>
              <a:rPr lang="pt-PT" sz="1200" b="1" i="0" u="none" strike="noStrike" cap="none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 Botto</a:t>
            </a:r>
            <a:r>
              <a:rPr lang="pt-PT" sz="1200" b="1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  &amp; </a:t>
            </a:r>
            <a:r>
              <a:rPr lang="pt-PT" sz="1200" b="1" i="0" u="none" strike="noStrike" cap="none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Fernando Pires de Oliveira </a:t>
            </a:r>
            <a:endParaRPr sz="1200" b="1" i="0" u="none" strike="noStrike" cap="none" dirty="0">
              <a:solidFill>
                <a:schemeClr val="accent2">
                  <a:lumMod val="75000"/>
                  <a:lumOff val="25000"/>
                </a:schemeClr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" name="Imagem 2" descr="Uma imagem com Modelo em escala, Brinquedo de conjunto para construção, Bloco de brincar, plástico&#10;&#10;Descrição gerada automaticamente">
            <a:extLst>
              <a:ext uri="{FF2B5EF4-FFF2-40B4-BE49-F238E27FC236}">
                <a16:creationId xmlns:a16="http://schemas.microsoft.com/office/drawing/2014/main" id="{DFE6F5BB-E843-4A21-4689-1DEBE4E32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416" y="1391385"/>
            <a:ext cx="2727184" cy="1884165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F2772A7E-E674-CE5F-4B0E-ACE7B5407B1F}"/>
              </a:ext>
            </a:extLst>
          </p:cNvPr>
          <p:cNvSpPr/>
          <p:nvPr/>
        </p:nvSpPr>
        <p:spPr>
          <a:xfrm>
            <a:off x="0" y="0"/>
            <a:ext cx="9144000" cy="26778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2" name="Picture 4" descr="OPENCoastS">
            <a:extLst>
              <a:ext uri="{FF2B5EF4-FFF2-40B4-BE49-F238E27FC236}">
                <a16:creationId xmlns:a16="http://schemas.microsoft.com/office/drawing/2014/main" id="{BB2E5850-8A88-37EC-EFBE-608432D76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49" y="4507752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F85D87-1885-10CF-C4B0-A5D7215603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3172669" y="4507752"/>
            <a:ext cx="1152766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0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5B7364B-118C-3D15-498F-F9DCB0DA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526C892-8A06-97F1-56E5-44162748067B}"/>
              </a:ext>
            </a:extLst>
          </p:cNvPr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chemeClr val="accent2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86AB29FD-BB26-5115-FA6D-16B4F001339E}"/>
              </a:ext>
            </a:extLst>
          </p:cNvPr>
          <p:cNvSpPr txBox="1"/>
          <p:nvPr/>
        </p:nvSpPr>
        <p:spPr>
          <a:xfrm>
            <a:off x="91441" y="85349"/>
            <a:ext cx="1371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DC8A50-D031-411A-C708-8AAFA242D4EB}"/>
              </a:ext>
            </a:extLst>
          </p:cNvPr>
          <p:cNvSpPr txBox="1"/>
          <p:nvPr/>
        </p:nvSpPr>
        <p:spPr>
          <a:xfrm>
            <a:off x="91441" y="911482"/>
            <a:ext cx="4506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Processo de Ensaios Sísmicos no LNEC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95F7E3F3-14DA-3086-5623-9D6D61D3C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</a:t>
            </a:fld>
            <a:endParaRPr lang="pt-PT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7E6E75AD-3C28-81FC-A4C8-83B19E773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43" y="54000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96B78C61-AE95-4E92-1839-2F55680AC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6201763" y="54000"/>
            <a:ext cx="1152766" cy="432000"/>
          </a:xfrm>
          <a:prstGeom prst="rect">
            <a:avLst/>
          </a:prstGeom>
        </p:spPr>
      </p:pic>
      <p:pic>
        <p:nvPicPr>
          <p:cNvPr id="9" name="Imagem 8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185470A5-1683-CFE5-B4CF-E112A2BD3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49" y="1517015"/>
            <a:ext cx="2515641" cy="309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1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365F42B-A2B2-C05E-AF26-7B2D53EF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00843989-BE71-A6F2-D282-11A8CD0B0648}"/>
              </a:ext>
            </a:extLst>
          </p:cNvPr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chemeClr val="accent2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64571914-5434-8AF3-F9DC-5DF6CAD17C5E}"/>
              </a:ext>
            </a:extLst>
          </p:cNvPr>
          <p:cNvSpPr txBox="1"/>
          <p:nvPr/>
        </p:nvSpPr>
        <p:spPr>
          <a:xfrm>
            <a:off x="91441" y="85349"/>
            <a:ext cx="1371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D168A18-8E05-925A-23FA-6833A03F2D14}"/>
              </a:ext>
            </a:extLst>
          </p:cNvPr>
          <p:cNvSpPr txBox="1"/>
          <p:nvPr/>
        </p:nvSpPr>
        <p:spPr>
          <a:xfrm>
            <a:off x="91441" y="911482"/>
            <a:ext cx="4506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Processo de Ensaios Sísmicos no LNEC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C8F3E187-8C48-F42D-6A62-12ED12342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3</a:t>
            </a:fld>
            <a:endParaRPr lang="pt-PT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AEFA65D4-38CE-61A0-E5AD-269F1DF68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43" y="54000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5B812A66-06E3-2B1C-F7CF-F1D432258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6201763" y="54000"/>
            <a:ext cx="1152766" cy="432000"/>
          </a:xfrm>
          <a:prstGeom prst="rect">
            <a:avLst/>
          </a:prstGeom>
        </p:spPr>
      </p:pic>
      <p:pic>
        <p:nvPicPr>
          <p:cNvPr id="9" name="Imagem 8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9C05187D-39B9-6FCC-94C8-CD29FA73E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49" y="1517015"/>
            <a:ext cx="2515641" cy="3094174"/>
          </a:xfrm>
          <a:prstGeom prst="rect">
            <a:avLst/>
          </a:prstGeom>
        </p:spPr>
      </p:pic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8C2BC11E-692B-3D3E-360B-B653BDA3E947}"/>
              </a:ext>
            </a:extLst>
          </p:cNvPr>
          <p:cNvCxnSpPr>
            <a:cxnSpLocks/>
          </p:cNvCxnSpPr>
          <p:nvPr/>
        </p:nvCxnSpPr>
        <p:spPr>
          <a:xfrm>
            <a:off x="3154680" y="2978332"/>
            <a:ext cx="1090749" cy="0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6" name="Imagem 15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8B5F065A-32C2-26AD-4ABF-02CF2BC4E3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519" y="910242"/>
            <a:ext cx="3215625" cy="406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5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B938C24-ED8D-D608-2AA8-EFFFFF65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8198BE5-C96D-4C7E-0060-47E6BA7AC4D1}"/>
              </a:ext>
            </a:extLst>
          </p:cNvPr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chemeClr val="accent2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2ADC6E50-9969-864F-4395-DAD65EFEAE91}"/>
              </a:ext>
            </a:extLst>
          </p:cNvPr>
          <p:cNvSpPr txBox="1"/>
          <p:nvPr/>
        </p:nvSpPr>
        <p:spPr>
          <a:xfrm>
            <a:off x="91441" y="85349"/>
            <a:ext cx="1371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44AC89C-550A-757E-E8BE-0872098D15D3}"/>
              </a:ext>
            </a:extLst>
          </p:cNvPr>
          <p:cNvSpPr txBox="1"/>
          <p:nvPr/>
        </p:nvSpPr>
        <p:spPr>
          <a:xfrm>
            <a:off x="91441" y="1034340"/>
            <a:ext cx="3742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Processo de Ensaios Sísmicos no LNEC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E6E3B833-6E9A-370E-3816-9D5A872057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4</a:t>
            </a:fld>
            <a:endParaRPr lang="pt-PT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3CAE6114-0E7D-0CEC-4935-7EAA64EEA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43" y="54000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B7CAEB3D-73C5-B996-7688-EC5EB03A6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6201763" y="54000"/>
            <a:ext cx="1152766" cy="432000"/>
          </a:xfrm>
          <a:prstGeom prst="rect">
            <a:avLst/>
          </a:prstGeom>
        </p:spPr>
      </p:pic>
      <p:pic>
        <p:nvPicPr>
          <p:cNvPr id="9" name="Imagem 8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2ACCCD0D-4AB3-B819-AD26-6FEEB119A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49" y="1517015"/>
            <a:ext cx="2515641" cy="3094174"/>
          </a:xfrm>
          <a:prstGeom prst="rect">
            <a:avLst/>
          </a:prstGeom>
        </p:spPr>
      </p:pic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9571F336-B221-0472-9473-607AC2E9864C}"/>
              </a:ext>
            </a:extLst>
          </p:cNvPr>
          <p:cNvCxnSpPr>
            <a:cxnSpLocks/>
          </p:cNvCxnSpPr>
          <p:nvPr/>
        </p:nvCxnSpPr>
        <p:spPr>
          <a:xfrm>
            <a:off x="3154680" y="2978332"/>
            <a:ext cx="1090749" cy="0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6" name="Imagem 15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8DB1BAE9-1B7E-D37C-D93B-4848C79D4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519" y="910242"/>
            <a:ext cx="3215625" cy="4066733"/>
          </a:xfrm>
          <a:prstGeom prst="rect">
            <a:avLst/>
          </a:prstGeom>
        </p:spPr>
      </p:pic>
      <p:pic>
        <p:nvPicPr>
          <p:cNvPr id="24" name="Imagem 23" descr="Uma imagem com Gráficos, design gráfico, captura de ecrã, Saturação de cores&#10;&#10;Os conteúdos gerados por IA podem estar incorretos.">
            <a:extLst>
              <a:ext uri="{FF2B5EF4-FFF2-40B4-BE49-F238E27FC236}">
                <a16:creationId xmlns:a16="http://schemas.microsoft.com/office/drawing/2014/main" id="{F7276136-A696-1486-921C-6DCB3900D4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594751">
            <a:off x="5290634" y="2371121"/>
            <a:ext cx="1122020" cy="90147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D8B5D41-23E5-27EA-B484-CC273529BEAC}"/>
              </a:ext>
            </a:extLst>
          </p:cNvPr>
          <p:cNvSpPr txBox="1"/>
          <p:nvPr/>
        </p:nvSpPr>
        <p:spPr>
          <a:xfrm>
            <a:off x="5851644" y="3690258"/>
            <a:ext cx="2723605" cy="600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1100" dirty="0"/>
              <a:t>Processo iterativo de correção do sinal de drive aumenta intensidade até se atingir </a:t>
            </a:r>
          </a:p>
        </p:txBody>
      </p:sp>
    </p:spTree>
    <p:extLst>
      <p:ext uri="{BB962C8B-B14F-4D97-AF65-F5344CB8AC3E}">
        <p14:creationId xmlns:p14="http://schemas.microsoft.com/office/powerpoint/2010/main" val="125894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C76E890-ADF1-8EF6-F954-DC9FB7BA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D1C3125A-71AE-C5C2-29CB-D8B7A6D5ABFC}"/>
              </a:ext>
            </a:extLst>
          </p:cNvPr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chemeClr val="accent2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2D966B89-71FC-B058-296F-66CE157ADDE9}"/>
              </a:ext>
            </a:extLst>
          </p:cNvPr>
          <p:cNvSpPr txBox="1"/>
          <p:nvPr/>
        </p:nvSpPr>
        <p:spPr>
          <a:xfrm>
            <a:off x="91441" y="85349"/>
            <a:ext cx="1371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4145FE-E684-A5B0-4BC7-DAD7D6746F1A}"/>
              </a:ext>
            </a:extLst>
          </p:cNvPr>
          <p:cNvSpPr txBox="1"/>
          <p:nvPr/>
        </p:nvSpPr>
        <p:spPr>
          <a:xfrm>
            <a:off x="91441" y="1034340"/>
            <a:ext cx="3742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Processo de Ensaios Sísmicos no LNEC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C91EEA92-973A-7561-97CF-A7E11C7164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5</a:t>
            </a:fld>
            <a:endParaRPr lang="pt-PT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77A75041-693A-4EAB-B627-A252988A9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43" y="54000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8C982B50-D1CD-51C9-A45A-BB49E4B63A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6201763" y="54000"/>
            <a:ext cx="1152766" cy="432000"/>
          </a:xfrm>
          <a:prstGeom prst="rect">
            <a:avLst/>
          </a:prstGeom>
        </p:spPr>
      </p:pic>
      <p:pic>
        <p:nvPicPr>
          <p:cNvPr id="9" name="Imagem 8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A7D43AE0-5579-DDFA-01A2-92E702301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49" y="1517015"/>
            <a:ext cx="2515641" cy="3094174"/>
          </a:xfrm>
          <a:prstGeom prst="rect">
            <a:avLst/>
          </a:prstGeom>
        </p:spPr>
      </p:pic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34A8193F-C296-8519-48C3-9E56E88B989F}"/>
              </a:ext>
            </a:extLst>
          </p:cNvPr>
          <p:cNvCxnSpPr>
            <a:cxnSpLocks/>
          </p:cNvCxnSpPr>
          <p:nvPr/>
        </p:nvCxnSpPr>
        <p:spPr>
          <a:xfrm>
            <a:off x="3154680" y="2978332"/>
            <a:ext cx="1090749" cy="0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6" name="Imagem 15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F9AE108E-1CBB-DFEC-C2DB-4D0AF24D3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519" y="910242"/>
            <a:ext cx="3215625" cy="4066733"/>
          </a:xfrm>
          <a:prstGeom prst="rect">
            <a:avLst/>
          </a:prstGeom>
        </p:spPr>
      </p:pic>
      <p:pic>
        <p:nvPicPr>
          <p:cNvPr id="24" name="Imagem 23" descr="Uma imagem com Gráficos, design gráfico, captura de ecrã, Saturação de cores&#10;&#10;Os conteúdos gerados por IA podem estar incorretos.">
            <a:extLst>
              <a:ext uri="{FF2B5EF4-FFF2-40B4-BE49-F238E27FC236}">
                <a16:creationId xmlns:a16="http://schemas.microsoft.com/office/drawing/2014/main" id="{A2E2E0F0-6EAA-4396-6009-2884FBB485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594751">
            <a:off x="5290634" y="2371121"/>
            <a:ext cx="1122020" cy="90147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285A22E-6A1E-FA31-6D89-790E26654D89}"/>
              </a:ext>
            </a:extLst>
          </p:cNvPr>
          <p:cNvSpPr txBox="1"/>
          <p:nvPr/>
        </p:nvSpPr>
        <p:spPr>
          <a:xfrm>
            <a:off x="5851644" y="3690258"/>
            <a:ext cx="2723605" cy="600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1100" dirty="0"/>
              <a:t>Processo iterativo de correção do sinal de drive aumenta intensidade até se atingir </a:t>
            </a:r>
          </a:p>
        </p:txBody>
      </p:sp>
    </p:spTree>
    <p:extLst>
      <p:ext uri="{BB962C8B-B14F-4D97-AF65-F5344CB8AC3E}">
        <p14:creationId xmlns:p14="http://schemas.microsoft.com/office/powerpoint/2010/main" val="356605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ED9EE25-847D-9C50-D943-4550D224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87E9D870-FA2C-CDE3-4C62-F81108D159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768C974E-8492-CA2C-4779-3910A2692ED3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FCD35AD-E4A0-B767-9D6B-596092DCBF76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B7F3D80B-532E-D15B-2EF9-A4B963103055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E29087FF-F85C-2F52-8603-A078B26DA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79BF5668-4A4B-6394-5C9C-746AA5E5F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C3CF0163-5EB4-DE1C-8A19-02587FE23204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CDAD351-0C8C-AA39-003F-04D9ECEB9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A88573F8-81AC-3425-BEC1-D0473ED96E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865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69BFB2C-D342-58A8-E39D-3A27EF45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14D8E18E-763E-2DB3-D091-5A2D96DBC8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BFCD7832-CFA8-F1FD-DEB0-FE24EE128EDA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F6386F-0C67-3602-E818-37E637A975C1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Definição de Problema</a:t>
            </a:r>
          </a:p>
        </p:txBody>
      </p: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6DFBBB63-5943-B90D-C80E-037EACFEEE71}"/>
              </a:ext>
            </a:extLst>
          </p:cNvPr>
          <p:cNvCxnSpPr>
            <a:cxnSpLocks/>
          </p:cNvCxnSpPr>
          <p:nvPr/>
        </p:nvCxnSpPr>
        <p:spPr>
          <a:xfrm>
            <a:off x="4298766" y="659891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2116A9-FAF0-0045-544E-40E1B661FD76}"/>
              </a:ext>
            </a:extLst>
          </p:cNvPr>
          <p:cNvSpPr txBox="1"/>
          <p:nvPr/>
        </p:nvSpPr>
        <p:spPr>
          <a:xfrm>
            <a:off x="1557758" y="1675089"/>
            <a:ext cx="5482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Plataforma sísmica não tem a dinâmica desejada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3AF2A881-55EA-608C-A725-EC47D64926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8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E5A6190-286E-E48E-6AD0-6E4BFA18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40D2AB13-4009-1A27-79D7-F78B4A6B15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AA213B46-37D8-F4A6-C559-396206F67D86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83DCBE-7078-0EB7-EBA2-1BE859F34258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Definição de Problema</a:t>
            </a:r>
          </a:p>
        </p:txBody>
      </p: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592D053E-9D39-D684-2665-774AAA4F1496}"/>
              </a:ext>
            </a:extLst>
          </p:cNvPr>
          <p:cNvCxnSpPr>
            <a:cxnSpLocks/>
          </p:cNvCxnSpPr>
          <p:nvPr/>
        </p:nvCxnSpPr>
        <p:spPr>
          <a:xfrm>
            <a:off x="4298766" y="659891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A7D0BA-F581-86B0-971E-18F291C71550}"/>
              </a:ext>
            </a:extLst>
          </p:cNvPr>
          <p:cNvSpPr txBox="1"/>
          <p:nvPr/>
        </p:nvSpPr>
        <p:spPr>
          <a:xfrm>
            <a:off x="1557758" y="1675089"/>
            <a:ext cx="5482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Plataforma sísmica não tem a dinâmica desejada</a:t>
            </a:r>
          </a:p>
        </p:txBody>
      </p: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DE98CFF9-106C-B694-5B92-5C9EFA63F5F1}"/>
              </a:ext>
            </a:extLst>
          </p:cNvPr>
          <p:cNvCxnSpPr>
            <a:cxnSpLocks/>
          </p:cNvCxnSpPr>
          <p:nvPr/>
        </p:nvCxnSpPr>
        <p:spPr>
          <a:xfrm>
            <a:off x="4298766" y="1982866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38EBD8A-DCAF-4AD6-06AD-D4DEE883146B}"/>
              </a:ext>
            </a:extLst>
          </p:cNvPr>
          <p:cNvSpPr txBox="1"/>
          <p:nvPr/>
        </p:nvSpPr>
        <p:spPr>
          <a:xfrm>
            <a:off x="1557757" y="2998064"/>
            <a:ext cx="5482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Modelação matemática para estudar o problema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8B071A4-8E21-536B-10B5-8FF1C8FA7C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635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4D9EBA4B-30DC-4AAC-B835-7F261426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38B8BDFC-AA5B-7B11-7F81-8EC5B3884E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7085E1ED-7664-08BD-1942-D04ACF70A4B2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C789C0-4909-6085-A715-F8C8D265D4EE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Modelação Matemática de Plataforma Sísmica</a:t>
            </a:r>
          </a:p>
        </p:txBody>
      </p: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C69224CE-10F4-E2D4-BBCF-FBD313AC9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25" y="1147913"/>
            <a:ext cx="5458371" cy="2847673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D08290D7-3F1B-87C4-8366-AE572F750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236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7685EA1A-265B-A635-0F86-A53DD525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FD764D0A-69DF-F7DE-8D33-C0CB55CA37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C8A8B5D9-31B8-B10A-E491-6F521B1F0729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0C1136E-4554-3781-A336-111BBA806E82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Modelação Matemática de Plataforma Sísmica</a:t>
            </a:r>
          </a:p>
        </p:txBody>
      </p: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DC06732E-6BEA-2022-A90E-CB6ACF9D9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661199FE-F95B-3762-EA79-81CBF57293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356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28AF70D-ED0D-5E37-C6CF-06A7774C2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27DDB923-7554-C9DD-88CC-84D2BB3B69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67C07922-3C87-ED89-213C-50F68BA5F795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1CB787-9008-AAAD-B6F9-5F73AFFA90E1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EE0325C9-E123-CA99-E4CA-0BE56EF184AE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077E0645-056F-45A6-0486-13CF9B5C3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1AE42FA2-94AC-52C3-56D5-73E4F10BF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992C283C-3087-1265-4C9A-ABACB4570A38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D2CD8B5-05A9-F8AF-3F7F-89D43AABFF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94A059CA-3D01-18A0-203D-BF657F568057}"/>
              </a:ext>
            </a:extLst>
          </p:cNvPr>
          <p:cNvCxnSpPr>
            <a:cxnSpLocks/>
          </p:cNvCxnSpPr>
          <p:nvPr/>
        </p:nvCxnSpPr>
        <p:spPr>
          <a:xfrm flipV="1">
            <a:off x="6396084" y="2997613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6B7F79F2-1A92-64BE-264A-5EF01F074E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178" y="1408156"/>
            <a:ext cx="4637314" cy="1064302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AEFF7552-B0ED-DC1F-A127-F795FABF7F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9838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66B00F0-BCB3-095C-713A-C0AA48F6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2A46A26B-E249-418C-1C31-9ECA69A0C6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1928C411-5E80-2AC7-86F2-D282BC014D23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E84D09-8B28-2310-CD72-852E97508B7D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DA1335BB-D5FC-9119-928D-C6BA172C553E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9C8E1F43-F3E5-367F-DEBE-231D798E0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F66A89AD-30B4-561A-4EB9-A2752E5F7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D2EFBCB0-91DA-3878-9EC2-16618E7E6E28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47FF4F6-B34D-47A4-D556-15667736D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B7C53DE2-A1F4-5A1B-40A9-F3C31F287BB1}"/>
              </a:ext>
            </a:extLst>
          </p:cNvPr>
          <p:cNvCxnSpPr>
            <a:cxnSpLocks/>
          </p:cNvCxnSpPr>
          <p:nvPr/>
        </p:nvCxnSpPr>
        <p:spPr>
          <a:xfrm flipV="1">
            <a:off x="6396084" y="2997613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8F353B69-C777-BDF9-7B43-8253C14787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206" y="1081585"/>
            <a:ext cx="4637314" cy="106430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89185B6-0D29-98F1-6E3A-EBCA980DCE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5432" y="965847"/>
            <a:ext cx="4351368" cy="1665547"/>
          </a:xfrm>
          <a:prstGeom prst="rect">
            <a:avLst/>
          </a:prstGeom>
        </p:spPr>
      </p:pic>
      <p:sp>
        <p:nvSpPr>
          <p:cNvPr id="2" name="Cruzada 1">
            <a:extLst>
              <a:ext uri="{FF2B5EF4-FFF2-40B4-BE49-F238E27FC236}">
                <a16:creationId xmlns:a16="http://schemas.microsoft.com/office/drawing/2014/main" id="{ED76E383-6790-FA23-0A64-83FA36D9AB31}"/>
              </a:ext>
            </a:extLst>
          </p:cNvPr>
          <p:cNvSpPr/>
          <p:nvPr/>
        </p:nvSpPr>
        <p:spPr>
          <a:xfrm>
            <a:off x="3998332" y="1731560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29BBB741-FC47-7A1B-1515-0EB6FD4374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840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489D03E-D5CC-421B-3C53-CA004416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A56B8F63-8C38-57A5-BC95-E2296DA78B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F0CCBED1-A93F-A225-3B70-3EED937EF809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8E32CD-F039-A276-7CB0-C31E3FE6B208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85A5BBE5-AFA4-B396-87A7-CAC169455CB2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2DEF4FB0-C2AE-975C-BA16-C4FFDC2AA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B0D897B9-4033-D855-95A2-B129A124B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36F52998-832B-F6CE-AC0B-426E4AF4BFEC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237D325-BBDB-CD06-A741-C552EFF86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5494787D-67AA-ED59-DDC8-050BE9F0B74E}"/>
              </a:ext>
            </a:extLst>
          </p:cNvPr>
          <p:cNvCxnSpPr>
            <a:cxnSpLocks/>
          </p:cNvCxnSpPr>
          <p:nvPr/>
        </p:nvCxnSpPr>
        <p:spPr>
          <a:xfrm flipV="1">
            <a:off x="6396084" y="2997613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8D2010F6-7F96-88B3-42A4-0BD4556056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206" y="1081585"/>
            <a:ext cx="4637314" cy="1064302"/>
          </a:xfrm>
          <a:prstGeom prst="rect">
            <a:avLst/>
          </a:prstGeom>
        </p:spPr>
      </p:pic>
      <p:sp>
        <p:nvSpPr>
          <p:cNvPr id="2" name="Cruzada 1">
            <a:extLst>
              <a:ext uri="{FF2B5EF4-FFF2-40B4-BE49-F238E27FC236}">
                <a16:creationId xmlns:a16="http://schemas.microsoft.com/office/drawing/2014/main" id="{6274F658-A0E2-9382-62F9-3475DA269088}"/>
              </a:ext>
            </a:extLst>
          </p:cNvPr>
          <p:cNvSpPr/>
          <p:nvPr/>
        </p:nvSpPr>
        <p:spPr>
          <a:xfrm>
            <a:off x="3998332" y="1731560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C4C4796-222D-2809-2DAD-19E6D8D54B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863" y="1009730"/>
            <a:ext cx="5511137" cy="1490504"/>
          </a:xfrm>
          <a:prstGeom prst="rect">
            <a:avLst/>
          </a:prstGeom>
        </p:spPr>
      </p:pic>
      <p:sp>
        <p:nvSpPr>
          <p:cNvPr id="12" name="Cruzada 11">
            <a:extLst>
              <a:ext uri="{FF2B5EF4-FFF2-40B4-BE49-F238E27FC236}">
                <a16:creationId xmlns:a16="http://schemas.microsoft.com/office/drawing/2014/main" id="{B86FA2CA-804A-4A62-917C-A00571B341A5}"/>
              </a:ext>
            </a:extLst>
          </p:cNvPr>
          <p:cNvSpPr/>
          <p:nvPr/>
        </p:nvSpPr>
        <p:spPr>
          <a:xfrm>
            <a:off x="4041519" y="214588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F4C07DCF-BC46-FE7D-C345-243BE0547E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8691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3443918-7BDD-7824-1F5A-68218D1C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A2DE008C-27EA-7520-EFBB-92CCB8896E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EE1693DB-11AB-A8AB-C284-42CBBD7E5868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28E21C-5F4D-0DA2-0440-5AB3C4ABB79F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B3944CF3-BBAF-E824-BEFC-15D028DAB59E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B736C119-F9DB-434A-CC4D-93AB9D2B8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44FFF6AE-603A-8A20-0F24-9CAB825D1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3F0548B5-820C-8CAE-AD99-0D080AECEB72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5223685-52EC-BD49-05D0-D2F8ED713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B48959-224D-1711-7BB8-1FFEA7050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8716" y="2127994"/>
            <a:ext cx="4473850" cy="910491"/>
          </a:xfrm>
          <a:prstGeom prst="rect">
            <a:avLst/>
          </a:prstGeom>
        </p:spPr>
      </p:pic>
      <p:sp>
        <p:nvSpPr>
          <p:cNvPr id="12" name="Cruzada 11">
            <a:extLst>
              <a:ext uri="{FF2B5EF4-FFF2-40B4-BE49-F238E27FC236}">
                <a16:creationId xmlns:a16="http://schemas.microsoft.com/office/drawing/2014/main" id="{4F0B372B-3A8C-9CF5-F835-735E1C51BBDF}"/>
              </a:ext>
            </a:extLst>
          </p:cNvPr>
          <p:cNvSpPr/>
          <p:nvPr/>
        </p:nvSpPr>
        <p:spPr>
          <a:xfrm>
            <a:off x="3982844" y="2286388"/>
            <a:ext cx="316194" cy="32314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93226E8-11DE-6EC5-BBB0-4E12A8B3AF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1683" y="818041"/>
            <a:ext cx="3130883" cy="1134586"/>
          </a:xfrm>
          <a:prstGeom prst="rect">
            <a:avLst/>
          </a:prstGeom>
        </p:spPr>
      </p:pic>
      <p:cxnSp>
        <p:nvCxnSpPr>
          <p:cNvPr id="13" name="Conexão: Curva 25">
            <a:extLst>
              <a:ext uri="{FF2B5EF4-FFF2-40B4-BE49-F238E27FC236}">
                <a16:creationId xmlns:a16="http://schemas.microsoft.com/office/drawing/2014/main" id="{AD4F0303-6164-4274-D847-E2906E517CEF}"/>
              </a:ext>
            </a:extLst>
          </p:cNvPr>
          <p:cNvCxnSpPr>
            <a:cxnSpLocks/>
          </p:cNvCxnSpPr>
          <p:nvPr/>
        </p:nvCxnSpPr>
        <p:spPr>
          <a:xfrm flipV="1">
            <a:off x="4758906" y="1306824"/>
            <a:ext cx="992777" cy="578833"/>
          </a:xfrm>
          <a:prstGeom prst="bentConnector3">
            <a:avLst>
              <a:gd name="adj1" fmla="val -5921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37DDB5E9-DEA7-6F88-07D9-541E9F1D5614}"/>
              </a:ext>
            </a:extLst>
          </p:cNvPr>
          <p:cNvCxnSpPr>
            <a:cxnSpLocks/>
          </p:cNvCxnSpPr>
          <p:nvPr/>
        </p:nvCxnSpPr>
        <p:spPr>
          <a:xfrm flipV="1">
            <a:off x="6396084" y="2997613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3CCBCAA6-ED09-B079-8095-DB20B20F8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77716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EBD90E4-3E64-68AD-480A-6FBDCE86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8CFDCB71-9160-1C4D-6FF1-E4D2B320FB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CE1B1F1B-B57F-B270-27AD-EA6EE01960BA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6AAF8E-42CF-AFED-F58B-649016476D56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Simulação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3FB61C2A-5214-68DD-645D-2E5229CB11BF}"/>
              </a:ext>
            </a:extLst>
          </p:cNvPr>
          <p:cNvCxnSpPr>
            <a:cxnSpLocks/>
          </p:cNvCxnSpPr>
          <p:nvPr/>
        </p:nvCxnSpPr>
        <p:spPr>
          <a:xfrm>
            <a:off x="3481623" y="2721686"/>
            <a:ext cx="902423" cy="0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FFAB558B-A856-0071-8752-E641874BD86D}"/>
              </a:ext>
            </a:extLst>
          </p:cNvPr>
          <p:cNvCxnSpPr>
            <a:cxnSpLocks/>
          </p:cNvCxnSpPr>
          <p:nvPr/>
        </p:nvCxnSpPr>
        <p:spPr>
          <a:xfrm flipV="1">
            <a:off x="9407072" y="2969094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3" name="Imagem 12" descr="Uma imagem com texto, diagrama, Tipo de letra, captura de ecrã&#10;&#10;Descrição gerada automaticamente">
            <a:extLst>
              <a:ext uri="{FF2B5EF4-FFF2-40B4-BE49-F238E27FC236}">
                <a16:creationId xmlns:a16="http://schemas.microsoft.com/office/drawing/2014/main" id="{706EBBBC-9A0F-C36A-E0E6-2DD0A8D78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836" y="1085829"/>
            <a:ext cx="1483705" cy="385534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BB1B1F-174B-ABE2-1152-7C1F70C1D7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274"/>
          <a:stretch/>
        </p:blipFill>
        <p:spPr>
          <a:xfrm>
            <a:off x="400694" y="4401143"/>
            <a:ext cx="4217325" cy="65731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D0B5E88-0661-8745-318B-FD289961BC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364"/>
          <a:stretch/>
        </p:blipFill>
        <p:spPr>
          <a:xfrm>
            <a:off x="451569" y="3738034"/>
            <a:ext cx="2875811" cy="657317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E139955-27B5-3548-839C-7C026FCFAEA8}"/>
              </a:ext>
            </a:extLst>
          </p:cNvPr>
          <p:cNvGrpSpPr/>
          <p:nvPr/>
        </p:nvGrpSpPr>
        <p:grpSpPr>
          <a:xfrm>
            <a:off x="222069" y="820285"/>
            <a:ext cx="3024528" cy="834205"/>
            <a:chOff x="4043703" y="2349994"/>
            <a:chExt cx="2352381" cy="647619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FD6E58C0-AEC3-35E5-8649-8A143A95F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43703" y="2349994"/>
              <a:ext cx="2352381" cy="647619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3E5AD17D-4ACF-D76F-AA5C-6B7C44F2D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323" t="21299" r="91771" b="34981"/>
            <a:stretch/>
          </p:blipFill>
          <p:spPr>
            <a:xfrm>
              <a:off x="4792104" y="2428058"/>
              <a:ext cx="363045" cy="287384"/>
            </a:xfrm>
            <a:prstGeom prst="rect">
              <a:avLst/>
            </a:prstGeom>
          </p:spPr>
        </p:pic>
      </p:grpSp>
      <p:pic>
        <p:nvPicPr>
          <p:cNvPr id="21" name="Imagem 20">
            <a:extLst>
              <a:ext uri="{FF2B5EF4-FFF2-40B4-BE49-F238E27FC236}">
                <a16:creationId xmlns:a16="http://schemas.microsoft.com/office/drawing/2014/main" id="{1B245E6E-AD53-52D7-AAA5-81D6B48B07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3147" y="1877727"/>
            <a:ext cx="1438476" cy="47631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A78351CC-62D1-7157-2498-990F319776B1}"/>
              </a:ext>
            </a:extLst>
          </p:cNvPr>
          <p:cNvSpPr txBox="1"/>
          <p:nvPr/>
        </p:nvSpPr>
        <p:spPr>
          <a:xfrm>
            <a:off x="306977" y="1951584"/>
            <a:ext cx="212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u="sng" dirty="0"/>
              <a:t>Controlador padrão</a:t>
            </a:r>
            <a:r>
              <a:rPr lang="pt-PT" dirty="0"/>
              <a:t>: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85D556C-3044-F155-C352-C84F8FD6B1E3}"/>
              </a:ext>
            </a:extLst>
          </p:cNvPr>
          <p:cNvSpPr/>
          <p:nvPr/>
        </p:nvSpPr>
        <p:spPr>
          <a:xfrm>
            <a:off x="1104131" y="2359835"/>
            <a:ext cx="110799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VS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AC8591C-F06C-F32E-6691-5A4894D649E4}"/>
              </a:ext>
            </a:extLst>
          </p:cNvPr>
          <p:cNvSpPr txBox="1"/>
          <p:nvPr/>
        </p:nvSpPr>
        <p:spPr>
          <a:xfrm>
            <a:off x="373185" y="3345215"/>
            <a:ext cx="2555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u="sng" dirty="0"/>
              <a:t>Controlador PIDF (</a:t>
            </a:r>
            <a:r>
              <a:rPr lang="pt-PT" u="sng" dirty="0" err="1"/>
              <a:t>tuned</a:t>
            </a:r>
            <a:r>
              <a:rPr lang="pt-PT" u="sng" dirty="0"/>
              <a:t>)</a:t>
            </a:r>
            <a:r>
              <a:rPr lang="pt-PT" dirty="0"/>
              <a:t> :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37CBECF-DDC5-60DE-0346-15A464A6775C}"/>
              </a:ext>
            </a:extLst>
          </p:cNvPr>
          <p:cNvSpPr txBox="1"/>
          <p:nvPr/>
        </p:nvSpPr>
        <p:spPr>
          <a:xfrm>
            <a:off x="1736708" y="778223"/>
            <a:ext cx="3206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200" dirty="0"/>
              <a:t>i</a:t>
            </a:r>
            <a:r>
              <a:rPr lang="pt-PT" sz="1200" baseline="-25000" dirty="0"/>
              <a:t>sv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E3B78C8-E558-CBA3-1FD1-E4C7B81F2DB7}"/>
              </a:ext>
            </a:extLst>
          </p:cNvPr>
          <p:cNvSpPr txBox="1"/>
          <p:nvPr/>
        </p:nvSpPr>
        <p:spPr>
          <a:xfrm>
            <a:off x="4576035" y="2273422"/>
            <a:ext cx="22501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Desempenho avaliado através do </a:t>
            </a:r>
          </a:p>
          <a:p>
            <a:pPr algn="ctr"/>
            <a:r>
              <a:rPr lang="pt-PT" b="1" dirty="0"/>
              <a:t>Espetro de Resposta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DC306301-DAD4-2072-3124-17DB03EB75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2264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A4DCE72-3DBD-40FB-A874-A37955F5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35F276B7-4D90-70F5-F6F6-CF97A67BE3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266B9A3E-FEAB-4966-BFE5-6AD095F2BAC4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40D77E-47C4-2AEB-9AA5-C984F0D55186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Simulação de Plataforma Sísmica</a:t>
            </a:r>
          </a:p>
        </p:txBody>
      </p: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A4EFD0F9-683B-6BE7-0F50-38F8C579C05C}"/>
              </a:ext>
            </a:extLst>
          </p:cNvPr>
          <p:cNvCxnSpPr>
            <a:cxnSpLocks/>
          </p:cNvCxnSpPr>
          <p:nvPr/>
        </p:nvCxnSpPr>
        <p:spPr>
          <a:xfrm flipV="1">
            <a:off x="9407072" y="2969094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file, diagrama, Gráfico&#10;&#10;Descrição gerada automaticamente">
            <a:extLst>
              <a:ext uri="{FF2B5EF4-FFF2-40B4-BE49-F238E27FC236}">
                <a16:creationId xmlns:a16="http://schemas.microsoft.com/office/drawing/2014/main" id="{E008D17F-CED5-1694-B950-4C326530C7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85" t="3511" r="7428" b="4016"/>
          <a:stretch/>
        </p:blipFill>
        <p:spPr>
          <a:xfrm>
            <a:off x="893160" y="707632"/>
            <a:ext cx="6884543" cy="343860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1068E84-7411-E58A-3789-7434540BF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8882" y="4193982"/>
            <a:ext cx="2747030" cy="798235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2FAF8615-6779-E2EF-203E-682192FA8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3646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793D5AE-1722-0613-0E7B-D45843E9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28AC0F5C-B945-B612-0894-76FD8A3D3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56F81427-8211-A97A-F52E-250EC34ACE48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61B65E3-C7FE-E861-EA99-3237189C03B6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Simulação de Plataforma Sísmica</a:t>
            </a:r>
          </a:p>
        </p:txBody>
      </p: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5713A946-8572-F211-4467-F813E88AF4B9}"/>
              </a:ext>
            </a:extLst>
          </p:cNvPr>
          <p:cNvCxnSpPr>
            <a:cxnSpLocks/>
          </p:cNvCxnSpPr>
          <p:nvPr/>
        </p:nvCxnSpPr>
        <p:spPr>
          <a:xfrm flipV="1">
            <a:off x="9407072" y="2969094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3" name="Imagem 2" descr="Uma imagem com texto, Gráfico, diagrama, file&#10;&#10;Descrição gerada automaticamente">
            <a:extLst>
              <a:ext uri="{FF2B5EF4-FFF2-40B4-BE49-F238E27FC236}">
                <a16:creationId xmlns:a16="http://schemas.microsoft.com/office/drawing/2014/main" id="{6A315DB4-969B-007A-A89D-5AB78930C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1" y="1198241"/>
            <a:ext cx="4211801" cy="3158851"/>
          </a:xfrm>
          <a:prstGeom prst="rect">
            <a:avLst/>
          </a:prstGeom>
        </p:spPr>
      </p:pic>
      <p:pic>
        <p:nvPicPr>
          <p:cNvPr id="7" name="Imagem 6" descr="Uma imagem com texto, diagrama, Gráfico, file&#10;&#10;Descrição gerada automaticamente">
            <a:extLst>
              <a:ext uri="{FF2B5EF4-FFF2-40B4-BE49-F238E27FC236}">
                <a16:creationId xmlns:a16="http://schemas.microsoft.com/office/drawing/2014/main" id="{25F2A612-B218-75B7-5123-1339FBFDD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432" y="1131737"/>
            <a:ext cx="4300473" cy="3225355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D55D932F-3CF1-1DCC-870C-CF61E3AF37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5196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4A7E2C1-2C9E-F8C7-30A2-15467343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99C1B50F-E38C-6BA3-F70A-3A3675CF21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342BD8F6-94E5-CB0F-D8BF-79B3A4F715BF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D89004-28AE-FD47-06E8-CBD8B08A8095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Simulação de Plataforma Sísmica</a:t>
            </a:r>
          </a:p>
        </p:txBody>
      </p: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4AFF64BF-7A57-583C-499B-4DDEEF89AE5A}"/>
              </a:ext>
            </a:extLst>
          </p:cNvPr>
          <p:cNvCxnSpPr>
            <a:cxnSpLocks/>
          </p:cNvCxnSpPr>
          <p:nvPr/>
        </p:nvCxnSpPr>
        <p:spPr>
          <a:xfrm flipV="1">
            <a:off x="9407072" y="2969094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" name="Imagem 3" descr="Uma imagem com texto, Gráfico, diagrama, file&#10;&#10;Descrição gerada automaticamente">
            <a:extLst>
              <a:ext uri="{FF2B5EF4-FFF2-40B4-BE49-F238E27FC236}">
                <a16:creationId xmlns:a16="http://schemas.microsoft.com/office/drawing/2014/main" id="{2323D14E-D1EE-D675-2F25-DE3EF912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91" y="1000475"/>
            <a:ext cx="4494591" cy="336965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EBD3D5B-FBEA-F9F8-5AAB-68C51BAEA9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49"/>
          <a:stretch/>
        </p:blipFill>
        <p:spPr>
          <a:xfrm>
            <a:off x="4511780" y="806631"/>
            <a:ext cx="4494591" cy="3530237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F03FB12F-7AC7-4977-169F-3987F63DD0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954861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509</Words>
  <Application>Microsoft Office PowerPoint</Application>
  <PresentationFormat>Apresentação no Ecrã (16:9)</PresentationFormat>
  <Paragraphs>81</Paragraphs>
  <Slides>18</Slides>
  <Notes>18</Notes>
  <HiddenSlides>2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2" baseType="lpstr">
      <vt:lpstr>Aptos Display</vt:lpstr>
      <vt:lpstr>Arial</vt:lpstr>
      <vt:lpstr>Bebas Neue</vt:lpstr>
      <vt:lpstr>Simple Light</vt:lpstr>
      <vt:lpstr>Desenvolvimento de Estratégias de Controlo para Replicação de Sismos em  Plataforma Sísmica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afonso henrique</dc:creator>
  <cp:lastModifiedBy>Afonso Costa Henrique</cp:lastModifiedBy>
  <cp:revision>6</cp:revision>
  <dcterms:modified xsi:type="dcterms:W3CDTF">2025-11-18T17:50:00Z</dcterms:modified>
</cp:coreProperties>
</file>